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60" r:id="rId2"/>
    <p:sldId id="256" r:id="rId3"/>
    <p:sldId id="257" r:id="rId4"/>
    <p:sldId id="258" r:id="rId5"/>
    <p:sldId id="259" r:id="rId6"/>
    <p:sldId id="261" r:id="rId7"/>
    <p:sldId id="263" r:id="rId8"/>
    <p:sldId id="264" r:id="rId9"/>
    <p:sldId id="265" r:id="rId10"/>
    <p:sldId id="287" r:id="rId11"/>
    <p:sldId id="268" r:id="rId12"/>
    <p:sldId id="271" r:id="rId13"/>
    <p:sldId id="267" r:id="rId14"/>
    <p:sldId id="270" r:id="rId15"/>
    <p:sldId id="286" r:id="rId16"/>
    <p:sldId id="279" r:id="rId17"/>
    <p:sldId id="285" r:id="rId18"/>
  </p:sldIdLst>
  <p:sldSz cx="9144000" cy="5143500" type="screen16x9"/>
  <p:notesSz cx="6858000" cy="9144000"/>
  <p:embeddedFontLst>
    <p:embeddedFont>
      <p:font typeface="Baskerville Old Face" panose="02020602080505020303" pitchFamily="18" charset="0"/>
      <p:regular r:id="rId20"/>
    </p:embeddedFont>
    <p:embeddedFont>
      <p:font typeface="Roboto" panose="020B0604020202020204" charset="0"/>
      <p:regular r:id="rId21"/>
      <p:bold r:id="rId22"/>
      <p:italic r:id="rId23"/>
      <p:boldItalic r:id="rId24"/>
    </p:embeddedFont>
    <p:embeddedFont>
      <p:font typeface="Dosis" panose="020B0604020202020204" charset="0"/>
      <p:regular r:id="rId25"/>
      <p:bold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A783CA3-BE23-4D98-B2A0-96A8EBFD1FB0}">
  <a:tblStyle styleId="{9A783CA3-BE23-4D98-B2A0-96A8EBFD1FB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20" y="5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0830122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025944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7559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65014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22869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51146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22354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69373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51145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07246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5f391192_0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5f391192_0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24387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5ed75ccf_0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5ed75ccf_0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57695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47855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5ed75ccf_0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5ed75ccf_0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40514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66079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08931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g70986e5564_2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0" name="Google Shape;1240;g70986e5564_2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74638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rgbClr val="22222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1025" y="-11025"/>
            <a:ext cx="9144000" cy="5143500"/>
          </a:xfrm>
          <a:prstGeom prst="rect">
            <a:avLst/>
          </a:prstGeom>
          <a:solidFill>
            <a:srgbClr val="222222">
              <a:alpha val="646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5086350" y="-38100"/>
            <a:ext cx="4114800" cy="5219700"/>
          </a:xfrm>
          <a:custGeom>
            <a:avLst/>
            <a:gdLst/>
            <a:ahLst/>
            <a:cxnLst/>
            <a:rect l="l" t="t" r="r" b="b"/>
            <a:pathLst>
              <a:path w="164592" h="208788" extrusionOk="0">
                <a:moveTo>
                  <a:pt x="0" y="1524"/>
                </a:moveTo>
                <a:lnTo>
                  <a:pt x="107442" y="208788"/>
                </a:lnTo>
                <a:lnTo>
                  <a:pt x="164592" y="208788"/>
                </a:lnTo>
                <a:lnTo>
                  <a:pt x="16459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Google Shape;12;p2"/>
          <p:cNvSpPr/>
          <p:nvPr/>
        </p:nvSpPr>
        <p:spPr>
          <a:xfrm flipH="1">
            <a:off x="-418950" y="4394400"/>
            <a:ext cx="8172300" cy="749100"/>
          </a:xfrm>
          <a:prstGeom prst="parallelogram">
            <a:avLst>
              <a:gd name="adj" fmla="val 51542"/>
            </a:avLst>
          </a:prstGeom>
          <a:solidFill>
            <a:srgbClr val="FFFFFF">
              <a:alpha val="176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4343"/>
              </a:solidFill>
            </a:endParaRPr>
          </a:p>
        </p:txBody>
      </p:sp>
      <p:sp>
        <p:nvSpPr>
          <p:cNvPr id="13" name="Google Shape;13;p2"/>
          <p:cNvSpPr/>
          <p:nvPr/>
        </p:nvSpPr>
        <p:spPr>
          <a:xfrm flipH="1">
            <a:off x="1028475" y="4166400"/>
            <a:ext cx="8369700" cy="228000"/>
          </a:xfrm>
          <a:prstGeom prst="parallelogram">
            <a:avLst>
              <a:gd name="adj" fmla="val 51542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28475" y="0"/>
            <a:ext cx="5238600" cy="402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bg>
      <p:bgPr>
        <a:solidFill>
          <a:schemeClr val="accen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5086350" y="-38100"/>
            <a:ext cx="4114800" cy="5219700"/>
          </a:xfrm>
          <a:custGeom>
            <a:avLst/>
            <a:gdLst/>
            <a:ahLst/>
            <a:cxnLst/>
            <a:rect l="l" t="t" r="r" b="b"/>
            <a:pathLst>
              <a:path w="164592" h="208788" extrusionOk="0">
                <a:moveTo>
                  <a:pt x="0" y="1524"/>
                </a:moveTo>
                <a:lnTo>
                  <a:pt x="107442" y="208788"/>
                </a:lnTo>
                <a:lnTo>
                  <a:pt x="164592" y="208788"/>
                </a:lnTo>
                <a:lnTo>
                  <a:pt x="164592" y="0"/>
                </a:lnTo>
                <a:close/>
              </a:path>
            </a:pathLst>
          </a:custGeom>
          <a:solidFill>
            <a:srgbClr val="FFFFFF">
              <a:alpha val="17690"/>
            </a:srgbClr>
          </a:solidFill>
          <a:ln>
            <a:noFill/>
          </a:ln>
        </p:spPr>
      </p:sp>
      <p:sp>
        <p:nvSpPr>
          <p:cNvPr id="17" name="Google Shape;17;p3"/>
          <p:cNvSpPr/>
          <p:nvPr/>
        </p:nvSpPr>
        <p:spPr>
          <a:xfrm flipH="1">
            <a:off x="-418950" y="4394400"/>
            <a:ext cx="8172300" cy="749100"/>
          </a:xfrm>
          <a:prstGeom prst="parallelogram">
            <a:avLst>
              <a:gd name="adj" fmla="val 51542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4343"/>
              </a:solidFill>
            </a:endParaRPr>
          </a:p>
        </p:txBody>
      </p:sp>
      <p:sp>
        <p:nvSpPr>
          <p:cNvPr id="18" name="Google Shape;18;p3"/>
          <p:cNvSpPr/>
          <p:nvPr/>
        </p:nvSpPr>
        <p:spPr>
          <a:xfrm flipH="1">
            <a:off x="1028475" y="4166400"/>
            <a:ext cx="8369700" cy="228000"/>
          </a:xfrm>
          <a:prstGeom prst="parallelogram">
            <a:avLst>
              <a:gd name="adj" fmla="val 51542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ctrTitle"/>
          </p:nvPr>
        </p:nvSpPr>
        <p:spPr>
          <a:xfrm>
            <a:off x="1028475" y="2345350"/>
            <a:ext cx="52200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1"/>
          </p:nvPr>
        </p:nvSpPr>
        <p:spPr>
          <a:xfrm>
            <a:off x="1028475" y="3449650"/>
            <a:ext cx="5220000" cy="5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-44050" y="-38100"/>
            <a:ext cx="4139800" cy="5192625"/>
          </a:xfrm>
          <a:custGeom>
            <a:avLst/>
            <a:gdLst/>
            <a:ahLst/>
            <a:cxnLst/>
            <a:rect l="l" t="t" r="r" b="b"/>
            <a:pathLst>
              <a:path w="165592" h="207705" extrusionOk="0">
                <a:moveTo>
                  <a:pt x="165592" y="207264"/>
                </a:moveTo>
                <a:lnTo>
                  <a:pt x="58150" y="0"/>
                </a:lnTo>
                <a:lnTo>
                  <a:pt x="0" y="643"/>
                </a:lnTo>
                <a:lnTo>
                  <a:pt x="881" y="207705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sp>
        <p:nvSpPr>
          <p:cNvPr id="23" name="Google Shape;23;p4"/>
          <p:cNvSpPr/>
          <p:nvPr/>
        </p:nvSpPr>
        <p:spPr>
          <a:xfrm flipH="1">
            <a:off x="-647600" y="-14750"/>
            <a:ext cx="2481900" cy="749100"/>
          </a:xfrm>
          <a:prstGeom prst="parallelogram">
            <a:avLst>
              <a:gd name="adj" fmla="val 51542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990375" y="1021950"/>
            <a:ext cx="7343100" cy="337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457200" rtl="0">
              <a:spcBef>
                <a:spcPts val="600"/>
              </a:spcBef>
              <a:spcAft>
                <a:spcPts val="0"/>
              </a:spcAft>
              <a:buSzPts val="3600"/>
              <a:buChar char="▸"/>
              <a:defRPr sz="3600" i="1"/>
            </a:lvl1pPr>
            <a:lvl2pPr marL="914400" lvl="1" indent="-457200" rtl="0">
              <a:spcBef>
                <a:spcPts val="0"/>
              </a:spcBef>
              <a:spcAft>
                <a:spcPts val="0"/>
              </a:spcAft>
              <a:buSzPts val="3600"/>
              <a:buChar char="▹"/>
              <a:defRPr sz="3600" i="1"/>
            </a:lvl2pPr>
            <a:lvl3pPr marL="1371600" lvl="2" indent="-457200" rtl="0">
              <a:spcBef>
                <a:spcPts val="0"/>
              </a:spcBef>
              <a:spcAft>
                <a:spcPts val="0"/>
              </a:spcAft>
              <a:buSzPts val="3600"/>
              <a:buChar char="▹"/>
              <a:defRPr sz="3600" i="1"/>
            </a:lvl3pPr>
            <a:lvl4pPr marL="1828800" lvl="3" indent="-457200" rtl="0">
              <a:spcBef>
                <a:spcPts val="0"/>
              </a:spcBef>
              <a:spcAft>
                <a:spcPts val="0"/>
              </a:spcAft>
              <a:buSzPts val="3600"/>
              <a:buChar char="▹"/>
              <a:defRPr sz="3600" i="1"/>
            </a:lvl4pPr>
            <a:lvl5pPr marL="2286000" lvl="4" indent="-457200" rtl="0">
              <a:spcBef>
                <a:spcPts val="0"/>
              </a:spcBef>
              <a:spcAft>
                <a:spcPts val="0"/>
              </a:spcAft>
              <a:buSzPts val="3600"/>
              <a:buChar char="▹"/>
              <a:defRPr sz="3600" i="1"/>
            </a:lvl5pPr>
            <a:lvl6pPr marL="2743200" lvl="5" indent="-457200" rtl="0">
              <a:spcBef>
                <a:spcPts val="0"/>
              </a:spcBef>
              <a:spcAft>
                <a:spcPts val="0"/>
              </a:spcAft>
              <a:buSzPts val="3600"/>
              <a:buChar char="▹"/>
              <a:defRPr sz="3600" i="1"/>
            </a:lvl6pPr>
            <a:lvl7pPr marL="3200400" lvl="6" indent="-457200" rtl="0">
              <a:spcBef>
                <a:spcPts val="0"/>
              </a:spcBef>
              <a:spcAft>
                <a:spcPts val="0"/>
              </a:spcAft>
              <a:buSzPts val="3600"/>
              <a:buChar char="▹"/>
              <a:defRPr sz="3600" i="1"/>
            </a:lvl7pPr>
            <a:lvl8pPr marL="3657600" lvl="7" indent="-457200" rtl="0">
              <a:spcBef>
                <a:spcPts val="0"/>
              </a:spcBef>
              <a:spcAft>
                <a:spcPts val="0"/>
              </a:spcAft>
              <a:buSzPts val="3600"/>
              <a:buChar char="▹"/>
              <a:defRPr sz="3600" i="1"/>
            </a:lvl8pPr>
            <a:lvl9pPr marL="4114800" lvl="8" indent="-457200">
              <a:spcBef>
                <a:spcPts val="0"/>
              </a:spcBef>
              <a:spcAft>
                <a:spcPts val="0"/>
              </a:spcAft>
              <a:buSzPts val="3600"/>
              <a:buChar char="▹"/>
              <a:defRPr sz="3600" i="1"/>
            </a:lvl9pPr>
          </a:lstStyle>
          <a:p>
            <a:endParaRPr/>
          </a:p>
        </p:txBody>
      </p:sp>
      <p:sp>
        <p:nvSpPr>
          <p:cNvPr id="25" name="Google Shape;25;p4"/>
          <p:cNvSpPr txBox="1"/>
          <p:nvPr/>
        </p:nvSpPr>
        <p:spPr>
          <a:xfrm>
            <a:off x="-121150" y="-271850"/>
            <a:ext cx="19557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“</a:t>
            </a:r>
            <a:endParaRPr sz="15000">
              <a:solidFill>
                <a:srgbClr val="FFFFFF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6" name="Google Shape;26;p4"/>
          <p:cNvSpPr/>
          <p:nvPr/>
        </p:nvSpPr>
        <p:spPr>
          <a:xfrm flipH="1">
            <a:off x="1440947" y="-14750"/>
            <a:ext cx="745800" cy="749100"/>
          </a:xfrm>
          <a:prstGeom prst="parallelogram">
            <a:avLst>
              <a:gd name="adj" fmla="val 51542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/>
          <p:nvPr/>
        </p:nvSpPr>
        <p:spPr>
          <a:xfrm flipH="1">
            <a:off x="6957299" y="4394650"/>
            <a:ext cx="2643900" cy="749100"/>
          </a:xfrm>
          <a:prstGeom prst="parallelogram">
            <a:avLst>
              <a:gd name="adj" fmla="val 51542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4"/>
          <p:cNvSpPr txBox="1"/>
          <p:nvPr/>
        </p:nvSpPr>
        <p:spPr>
          <a:xfrm>
            <a:off x="6957475" y="4137550"/>
            <a:ext cx="21864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”</a:t>
            </a:r>
            <a:endParaRPr sz="15000">
              <a:solidFill>
                <a:srgbClr val="FFFFFF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9" name="Google Shape;29;p4"/>
          <p:cNvSpPr/>
          <p:nvPr/>
        </p:nvSpPr>
        <p:spPr>
          <a:xfrm flipH="1">
            <a:off x="6626547" y="4394650"/>
            <a:ext cx="745800" cy="749100"/>
          </a:xfrm>
          <a:prstGeom prst="parallelogram">
            <a:avLst>
              <a:gd name="adj" fmla="val 51542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p5"/>
          <p:cNvGrpSpPr/>
          <p:nvPr/>
        </p:nvGrpSpPr>
        <p:grpSpPr>
          <a:xfrm>
            <a:off x="-903537" y="-38100"/>
            <a:ext cx="10524355" cy="5214650"/>
            <a:chOff x="-903537" y="-38100"/>
            <a:chExt cx="10524355" cy="5214650"/>
          </a:xfrm>
        </p:grpSpPr>
        <p:sp>
          <p:nvSpPr>
            <p:cNvPr id="32" name="Google Shape;32;p5"/>
            <p:cNvSpPr/>
            <p:nvPr/>
          </p:nvSpPr>
          <p:spPr>
            <a:xfrm>
              <a:off x="-55075" y="-38100"/>
              <a:ext cx="3312625" cy="5214650"/>
            </a:xfrm>
            <a:custGeom>
              <a:avLst/>
              <a:gdLst/>
              <a:ahLst/>
              <a:cxnLst/>
              <a:rect l="l" t="t" r="r" b="b"/>
              <a:pathLst>
                <a:path w="132505" h="208586" extrusionOk="0">
                  <a:moveTo>
                    <a:pt x="132505" y="207264"/>
                  </a:moveTo>
                  <a:lnTo>
                    <a:pt x="25063" y="0"/>
                  </a:lnTo>
                  <a:lnTo>
                    <a:pt x="0" y="202"/>
                  </a:lnTo>
                  <a:lnTo>
                    <a:pt x="1322" y="20858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33" name="Google Shape;33;p5"/>
            <p:cNvSpPr/>
            <p:nvPr/>
          </p:nvSpPr>
          <p:spPr>
            <a:xfrm flipH="1">
              <a:off x="-903537" y="-17561"/>
              <a:ext cx="1759200" cy="749100"/>
            </a:xfrm>
            <a:prstGeom prst="parallelogram">
              <a:avLst>
                <a:gd name="adj" fmla="val 5154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5"/>
            <p:cNvSpPr/>
            <p:nvPr/>
          </p:nvSpPr>
          <p:spPr>
            <a:xfrm flipH="1">
              <a:off x="472134" y="-9525"/>
              <a:ext cx="518400" cy="749100"/>
            </a:xfrm>
            <a:prstGeom prst="parallelogram">
              <a:avLst>
                <a:gd name="adj" fmla="val 75009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flipH="1">
              <a:off x="742953" y="272850"/>
              <a:ext cx="7505700" cy="749100"/>
            </a:xfrm>
            <a:prstGeom prst="parallelogram">
              <a:avLst>
                <a:gd name="adj" fmla="val 5154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5"/>
            <p:cNvSpPr/>
            <p:nvPr/>
          </p:nvSpPr>
          <p:spPr>
            <a:xfrm flipH="1">
              <a:off x="7861618" y="272850"/>
              <a:ext cx="1759200" cy="749100"/>
            </a:xfrm>
            <a:prstGeom prst="parallelogram">
              <a:avLst>
                <a:gd name="adj" fmla="val 5154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5"/>
            <p:cNvSpPr/>
            <p:nvPr/>
          </p:nvSpPr>
          <p:spPr>
            <a:xfrm flipH="1">
              <a:off x="990375" y="4925850"/>
              <a:ext cx="8369700" cy="228000"/>
            </a:xfrm>
            <a:prstGeom prst="parallelogram">
              <a:avLst>
                <a:gd name="adj" fmla="val 5154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1104900" y="276075"/>
            <a:ext cx="6724500" cy="74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1"/>
          </p:nvPr>
        </p:nvSpPr>
        <p:spPr>
          <a:xfrm>
            <a:off x="1104900" y="1277625"/>
            <a:ext cx="7581900" cy="364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SzPts val="3000"/>
              <a:buChar char="▸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▹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▹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▹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▹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▹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▹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▹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▹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594900" cy="73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6"/>
          <p:cNvGrpSpPr/>
          <p:nvPr/>
        </p:nvGrpSpPr>
        <p:grpSpPr>
          <a:xfrm>
            <a:off x="-903537" y="-38100"/>
            <a:ext cx="10524355" cy="5214650"/>
            <a:chOff x="-903537" y="-38100"/>
            <a:chExt cx="10524355" cy="5214650"/>
          </a:xfrm>
        </p:grpSpPr>
        <p:sp>
          <p:nvSpPr>
            <p:cNvPr id="43" name="Google Shape;43;p6"/>
            <p:cNvSpPr/>
            <p:nvPr/>
          </p:nvSpPr>
          <p:spPr>
            <a:xfrm>
              <a:off x="-55075" y="-38100"/>
              <a:ext cx="3312625" cy="5214650"/>
            </a:xfrm>
            <a:custGeom>
              <a:avLst/>
              <a:gdLst/>
              <a:ahLst/>
              <a:cxnLst/>
              <a:rect l="l" t="t" r="r" b="b"/>
              <a:pathLst>
                <a:path w="132505" h="208586" extrusionOk="0">
                  <a:moveTo>
                    <a:pt x="132505" y="207264"/>
                  </a:moveTo>
                  <a:lnTo>
                    <a:pt x="25063" y="0"/>
                  </a:lnTo>
                  <a:lnTo>
                    <a:pt x="0" y="202"/>
                  </a:lnTo>
                  <a:lnTo>
                    <a:pt x="1322" y="20858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44" name="Google Shape;44;p6"/>
            <p:cNvSpPr/>
            <p:nvPr/>
          </p:nvSpPr>
          <p:spPr>
            <a:xfrm flipH="1">
              <a:off x="-903537" y="-17561"/>
              <a:ext cx="1759200" cy="749100"/>
            </a:xfrm>
            <a:prstGeom prst="parallelogram">
              <a:avLst>
                <a:gd name="adj" fmla="val 5154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6"/>
            <p:cNvSpPr/>
            <p:nvPr/>
          </p:nvSpPr>
          <p:spPr>
            <a:xfrm flipH="1">
              <a:off x="472134" y="-9525"/>
              <a:ext cx="518400" cy="749100"/>
            </a:xfrm>
            <a:prstGeom prst="parallelogram">
              <a:avLst>
                <a:gd name="adj" fmla="val 75009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6"/>
            <p:cNvSpPr/>
            <p:nvPr/>
          </p:nvSpPr>
          <p:spPr>
            <a:xfrm flipH="1">
              <a:off x="742953" y="272850"/>
              <a:ext cx="7505700" cy="749100"/>
            </a:xfrm>
            <a:prstGeom prst="parallelogram">
              <a:avLst>
                <a:gd name="adj" fmla="val 5154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6"/>
            <p:cNvSpPr/>
            <p:nvPr/>
          </p:nvSpPr>
          <p:spPr>
            <a:xfrm flipH="1">
              <a:off x="7861618" y="272850"/>
              <a:ext cx="1759200" cy="749100"/>
            </a:xfrm>
            <a:prstGeom prst="parallelogram">
              <a:avLst>
                <a:gd name="adj" fmla="val 5154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6"/>
            <p:cNvSpPr/>
            <p:nvPr/>
          </p:nvSpPr>
          <p:spPr>
            <a:xfrm flipH="1">
              <a:off x="990375" y="4925850"/>
              <a:ext cx="8369700" cy="228000"/>
            </a:xfrm>
            <a:prstGeom prst="parallelogram">
              <a:avLst>
                <a:gd name="adj" fmla="val 5154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" name="Google Shape;49;p6"/>
          <p:cNvSpPr txBox="1">
            <a:spLocks noGrp="1"/>
          </p:cNvSpPr>
          <p:nvPr>
            <p:ph type="title"/>
          </p:nvPr>
        </p:nvSpPr>
        <p:spPr>
          <a:xfrm>
            <a:off x="1101386" y="272850"/>
            <a:ext cx="7574400" cy="74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 b="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 b="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 b="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 b="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 b="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 b="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 b="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 b="0"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body" idx="1"/>
          </p:nvPr>
        </p:nvSpPr>
        <p:spPr>
          <a:xfrm>
            <a:off x="1101375" y="1311550"/>
            <a:ext cx="3681900" cy="353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93700">
              <a:spcBef>
                <a:spcPts val="600"/>
              </a:spcBef>
              <a:spcAft>
                <a:spcPts val="0"/>
              </a:spcAft>
              <a:buSzPts val="2600"/>
              <a:buChar char="▸"/>
              <a:defRPr sz="2600"/>
            </a:lvl1pPr>
            <a:lvl2pPr marL="914400" lvl="1" indent="-3937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2pPr>
            <a:lvl3pPr marL="1371600" lvl="2" indent="-3937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3pPr>
            <a:lvl4pPr marL="1828800" lvl="3" indent="-3937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4pPr>
            <a:lvl5pPr marL="2286000" lvl="4" indent="-3937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5pPr>
            <a:lvl6pPr marL="2743200" lvl="5" indent="-3937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6pPr>
            <a:lvl7pPr marL="3200400" lvl="6" indent="-3937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7pPr>
            <a:lvl8pPr marL="3657600" lvl="7" indent="-3937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8pPr>
            <a:lvl9pPr marL="4114800" lvl="8" indent="-3937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body" idx="2"/>
          </p:nvPr>
        </p:nvSpPr>
        <p:spPr>
          <a:xfrm>
            <a:off x="5004949" y="1311550"/>
            <a:ext cx="3681900" cy="353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93700">
              <a:spcBef>
                <a:spcPts val="600"/>
              </a:spcBef>
              <a:spcAft>
                <a:spcPts val="0"/>
              </a:spcAft>
              <a:buSzPts val="2600"/>
              <a:buChar char="▸"/>
              <a:defRPr sz="2600"/>
            </a:lvl1pPr>
            <a:lvl2pPr marL="914400" lvl="1" indent="-3937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2pPr>
            <a:lvl3pPr marL="1371600" lvl="2" indent="-3937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3pPr>
            <a:lvl4pPr marL="1828800" lvl="3" indent="-3937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4pPr>
            <a:lvl5pPr marL="2286000" lvl="4" indent="-3937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5pPr>
            <a:lvl6pPr marL="2743200" lvl="5" indent="-3937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6pPr>
            <a:lvl7pPr marL="3200400" lvl="6" indent="-3937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7pPr>
            <a:lvl8pPr marL="3657600" lvl="7" indent="-3937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8pPr>
            <a:lvl9pPr marL="4114800" lvl="8" indent="-3937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594900" cy="73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7"/>
          <p:cNvGrpSpPr/>
          <p:nvPr/>
        </p:nvGrpSpPr>
        <p:grpSpPr>
          <a:xfrm>
            <a:off x="-903537" y="-38100"/>
            <a:ext cx="10524355" cy="5214650"/>
            <a:chOff x="-903537" y="-38100"/>
            <a:chExt cx="10524355" cy="5214650"/>
          </a:xfrm>
        </p:grpSpPr>
        <p:sp>
          <p:nvSpPr>
            <p:cNvPr id="55" name="Google Shape;55;p7"/>
            <p:cNvSpPr/>
            <p:nvPr/>
          </p:nvSpPr>
          <p:spPr>
            <a:xfrm>
              <a:off x="-55075" y="-38100"/>
              <a:ext cx="3312625" cy="5214650"/>
            </a:xfrm>
            <a:custGeom>
              <a:avLst/>
              <a:gdLst/>
              <a:ahLst/>
              <a:cxnLst/>
              <a:rect l="l" t="t" r="r" b="b"/>
              <a:pathLst>
                <a:path w="132505" h="208586" extrusionOk="0">
                  <a:moveTo>
                    <a:pt x="132505" y="207264"/>
                  </a:moveTo>
                  <a:lnTo>
                    <a:pt x="25063" y="0"/>
                  </a:lnTo>
                  <a:lnTo>
                    <a:pt x="0" y="202"/>
                  </a:lnTo>
                  <a:lnTo>
                    <a:pt x="1322" y="20858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56" name="Google Shape;56;p7"/>
            <p:cNvSpPr/>
            <p:nvPr/>
          </p:nvSpPr>
          <p:spPr>
            <a:xfrm flipH="1">
              <a:off x="-903537" y="-17561"/>
              <a:ext cx="1759200" cy="749100"/>
            </a:xfrm>
            <a:prstGeom prst="parallelogram">
              <a:avLst>
                <a:gd name="adj" fmla="val 5154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7"/>
            <p:cNvSpPr/>
            <p:nvPr/>
          </p:nvSpPr>
          <p:spPr>
            <a:xfrm flipH="1">
              <a:off x="472134" y="-9525"/>
              <a:ext cx="518400" cy="749100"/>
            </a:xfrm>
            <a:prstGeom prst="parallelogram">
              <a:avLst>
                <a:gd name="adj" fmla="val 75009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7"/>
            <p:cNvSpPr/>
            <p:nvPr/>
          </p:nvSpPr>
          <p:spPr>
            <a:xfrm flipH="1">
              <a:off x="742953" y="272850"/>
              <a:ext cx="7505700" cy="749100"/>
            </a:xfrm>
            <a:prstGeom prst="parallelogram">
              <a:avLst>
                <a:gd name="adj" fmla="val 5154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7"/>
            <p:cNvSpPr/>
            <p:nvPr/>
          </p:nvSpPr>
          <p:spPr>
            <a:xfrm flipH="1">
              <a:off x="7861618" y="272850"/>
              <a:ext cx="1759200" cy="749100"/>
            </a:xfrm>
            <a:prstGeom prst="parallelogram">
              <a:avLst>
                <a:gd name="adj" fmla="val 5154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7"/>
            <p:cNvSpPr/>
            <p:nvPr/>
          </p:nvSpPr>
          <p:spPr>
            <a:xfrm flipH="1">
              <a:off x="990375" y="4925850"/>
              <a:ext cx="8369700" cy="228000"/>
            </a:xfrm>
            <a:prstGeom prst="parallelogram">
              <a:avLst>
                <a:gd name="adj" fmla="val 5154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" name="Google Shape;61;p7"/>
          <p:cNvSpPr txBox="1">
            <a:spLocks noGrp="1"/>
          </p:cNvSpPr>
          <p:nvPr>
            <p:ph type="title"/>
          </p:nvPr>
        </p:nvSpPr>
        <p:spPr>
          <a:xfrm>
            <a:off x="1104900" y="276075"/>
            <a:ext cx="6724500" cy="74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7"/>
          <p:cNvSpPr txBox="1">
            <a:spLocks noGrp="1"/>
          </p:cNvSpPr>
          <p:nvPr>
            <p:ph type="body" idx="1"/>
          </p:nvPr>
        </p:nvSpPr>
        <p:spPr>
          <a:xfrm>
            <a:off x="1104900" y="1224350"/>
            <a:ext cx="2423100" cy="354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 rtl="0">
              <a:spcBef>
                <a:spcPts val="600"/>
              </a:spcBef>
              <a:spcAft>
                <a:spcPts val="0"/>
              </a:spcAft>
              <a:buSzPts val="2000"/>
              <a:buChar char="▸"/>
              <a:defRPr sz="2000"/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9pPr>
          </a:lstStyle>
          <a:p>
            <a:endParaRPr/>
          </a:p>
        </p:txBody>
      </p:sp>
      <p:sp>
        <p:nvSpPr>
          <p:cNvPr id="63" name="Google Shape;63;p7"/>
          <p:cNvSpPr txBox="1">
            <a:spLocks noGrp="1"/>
          </p:cNvSpPr>
          <p:nvPr>
            <p:ph type="body" idx="2"/>
          </p:nvPr>
        </p:nvSpPr>
        <p:spPr>
          <a:xfrm>
            <a:off x="3652189" y="1224350"/>
            <a:ext cx="2423100" cy="354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 rtl="0">
              <a:spcBef>
                <a:spcPts val="600"/>
              </a:spcBef>
              <a:spcAft>
                <a:spcPts val="0"/>
              </a:spcAft>
              <a:buSzPts val="2000"/>
              <a:buChar char="▸"/>
              <a:defRPr sz="2000"/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9pPr>
          </a:lstStyle>
          <a:p>
            <a:endParaRPr/>
          </a:p>
        </p:txBody>
      </p:sp>
      <p:sp>
        <p:nvSpPr>
          <p:cNvPr id="64" name="Google Shape;64;p7"/>
          <p:cNvSpPr txBox="1">
            <a:spLocks noGrp="1"/>
          </p:cNvSpPr>
          <p:nvPr>
            <p:ph type="body" idx="3"/>
          </p:nvPr>
        </p:nvSpPr>
        <p:spPr>
          <a:xfrm>
            <a:off x="6199478" y="1224350"/>
            <a:ext cx="2423100" cy="354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 rtl="0">
              <a:spcBef>
                <a:spcPts val="600"/>
              </a:spcBef>
              <a:spcAft>
                <a:spcPts val="0"/>
              </a:spcAft>
              <a:buSzPts val="2000"/>
              <a:buChar char="▸"/>
              <a:defRPr sz="2000"/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9pPr>
          </a:lstStyle>
          <a:p>
            <a:endParaRPr/>
          </a:p>
        </p:txBody>
      </p:sp>
      <p:sp>
        <p:nvSpPr>
          <p:cNvPr id="65" name="Google Shape;65;p7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594900" cy="73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p8"/>
          <p:cNvGrpSpPr/>
          <p:nvPr/>
        </p:nvGrpSpPr>
        <p:grpSpPr>
          <a:xfrm>
            <a:off x="-903537" y="-38100"/>
            <a:ext cx="10524355" cy="5214650"/>
            <a:chOff x="-903537" y="-38100"/>
            <a:chExt cx="10524355" cy="5214650"/>
          </a:xfrm>
        </p:grpSpPr>
        <p:sp>
          <p:nvSpPr>
            <p:cNvPr id="68" name="Google Shape;68;p8"/>
            <p:cNvSpPr/>
            <p:nvPr/>
          </p:nvSpPr>
          <p:spPr>
            <a:xfrm>
              <a:off x="-55075" y="-38100"/>
              <a:ext cx="3312625" cy="5214650"/>
            </a:xfrm>
            <a:custGeom>
              <a:avLst/>
              <a:gdLst/>
              <a:ahLst/>
              <a:cxnLst/>
              <a:rect l="l" t="t" r="r" b="b"/>
              <a:pathLst>
                <a:path w="132505" h="208586" extrusionOk="0">
                  <a:moveTo>
                    <a:pt x="132505" y="207264"/>
                  </a:moveTo>
                  <a:lnTo>
                    <a:pt x="25063" y="0"/>
                  </a:lnTo>
                  <a:lnTo>
                    <a:pt x="0" y="202"/>
                  </a:lnTo>
                  <a:lnTo>
                    <a:pt x="1322" y="20858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69" name="Google Shape;69;p8"/>
            <p:cNvSpPr/>
            <p:nvPr/>
          </p:nvSpPr>
          <p:spPr>
            <a:xfrm flipH="1">
              <a:off x="-903537" y="-17561"/>
              <a:ext cx="1759200" cy="749100"/>
            </a:xfrm>
            <a:prstGeom prst="parallelogram">
              <a:avLst>
                <a:gd name="adj" fmla="val 5154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8"/>
            <p:cNvSpPr/>
            <p:nvPr/>
          </p:nvSpPr>
          <p:spPr>
            <a:xfrm flipH="1">
              <a:off x="472134" y="-9525"/>
              <a:ext cx="518400" cy="749100"/>
            </a:xfrm>
            <a:prstGeom prst="parallelogram">
              <a:avLst>
                <a:gd name="adj" fmla="val 75009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8"/>
            <p:cNvSpPr/>
            <p:nvPr/>
          </p:nvSpPr>
          <p:spPr>
            <a:xfrm flipH="1">
              <a:off x="742953" y="272850"/>
              <a:ext cx="7505700" cy="749100"/>
            </a:xfrm>
            <a:prstGeom prst="parallelogram">
              <a:avLst>
                <a:gd name="adj" fmla="val 5154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flipH="1">
              <a:off x="7861618" y="272850"/>
              <a:ext cx="1759200" cy="749100"/>
            </a:xfrm>
            <a:prstGeom prst="parallelogram">
              <a:avLst>
                <a:gd name="adj" fmla="val 5154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flipH="1">
              <a:off x="990375" y="4925850"/>
              <a:ext cx="8369700" cy="228000"/>
            </a:xfrm>
            <a:prstGeom prst="parallelogram">
              <a:avLst>
                <a:gd name="adj" fmla="val 5154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" name="Google Shape;74;p8"/>
          <p:cNvSpPr txBox="1">
            <a:spLocks noGrp="1"/>
          </p:cNvSpPr>
          <p:nvPr>
            <p:ph type="title"/>
          </p:nvPr>
        </p:nvSpPr>
        <p:spPr>
          <a:xfrm>
            <a:off x="1104900" y="276075"/>
            <a:ext cx="6724500" cy="74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8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594900" cy="73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background">
  <p:cSld name="TITLE_ONLY_1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"/>
          <p:cNvSpPr/>
          <p:nvPr/>
        </p:nvSpPr>
        <p:spPr>
          <a:xfrm>
            <a:off x="-55075" y="-38100"/>
            <a:ext cx="3312625" cy="5214650"/>
          </a:xfrm>
          <a:custGeom>
            <a:avLst/>
            <a:gdLst/>
            <a:ahLst/>
            <a:cxnLst/>
            <a:rect l="l" t="t" r="r" b="b"/>
            <a:pathLst>
              <a:path w="132505" h="208586" extrusionOk="0">
                <a:moveTo>
                  <a:pt x="132505" y="207264"/>
                </a:moveTo>
                <a:lnTo>
                  <a:pt x="25063" y="0"/>
                </a:lnTo>
                <a:lnTo>
                  <a:pt x="0" y="202"/>
                </a:lnTo>
                <a:lnTo>
                  <a:pt x="1322" y="208586"/>
                </a:lnTo>
                <a:close/>
              </a:path>
            </a:pathLst>
          </a:custGeom>
          <a:solidFill>
            <a:srgbClr val="FFFFFF">
              <a:alpha val="17690"/>
            </a:srgbClr>
          </a:solidFill>
          <a:ln>
            <a:noFill/>
          </a:ln>
        </p:spPr>
      </p:sp>
      <p:sp>
        <p:nvSpPr>
          <p:cNvPr id="78" name="Google Shape;78;p9"/>
          <p:cNvSpPr/>
          <p:nvPr/>
        </p:nvSpPr>
        <p:spPr>
          <a:xfrm flipH="1">
            <a:off x="-903537" y="-17561"/>
            <a:ext cx="1759200" cy="749100"/>
          </a:xfrm>
          <a:prstGeom prst="parallelogram">
            <a:avLst>
              <a:gd name="adj" fmla="val 51542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9"/>
          <p:cNvSpPr/>
          <p:nvPr/>
        </p:nvSpPr>
        <p:spPr>
          <a:xfrm flipH="1">
            <a:off x="472134" y="-9525"/>
            <a:ext cx="518400" cy="749100"/>
          </a:xfrm>
          <a:prstGeom prst="parallelogram">
            <a:avLst>
              <a:gd name="adj" fmla="val 7500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9"/>
          <p:cNvSpPr/>
          <p:nvPr/>
        </p:nvSpPr>
        <p:spPr>
          <a:xfrm flipH="1">
            <a:off x="742953" y="272850"/>
            <a:ext cx="7505700" cy="749100"/>
          </a:xfrm>
          <a:prstGeom prst="parallelogram">
            <a:avLst>
              <a:gd name="adj" fmla="val 51542"/>
            </a:avLst>
          </a:prstGeom>
          <a:solidFill>
            <a:srgbClr val="222222">
              <a:alpha val="646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9"/>
          <p:cNvSpPr/>
          <p:nvPr/>
        </p:nvSpPr>
        <p:spPr>
          <a:xfrm flipH="1">
            <a:off x="7861618" y="272850"/>
            <a:ext cx="1759200" cy="749100"/>
          </a:xfrm>
          <a:prstGeom prst="parallelogram">
            <a:avLst>
              <a:gd name="adj" fmla="val 51542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9"/>
          <p:cNvSpPr/>
          <p:nvPr/>
        </p:nvSpPr>
        <p:spPr>
          <a:xfrm flipH="1">
            <a:off x="990375" y="4925850"/>
            <a:ext cx="8369700" cy="228000"/>
          </a:xfrm>
          <a:prstGeom prst="parallelogram">
            <a:avLst>
              <a:gd name="adj" fmla="val 51542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9"/>
          <p:cNvSpPr txBox="1">
            <a:spLocks noGrp="1"/>
          </p:cNvSpPr>
          <p:nvPr>
            <p:ph type="title"/>
          </p:nvPr>
        </p:nvSpPr>
        <p:spPr>
          <a:xfrm>
            <a:off x="1104900" y="276075"/>
            <a:ext cx="6724500" cy="74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9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594900" cy="73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"/>
          <p:cNvSpPr/>
          <p:nvPr/>
        </p:nvSpPr>
        <p:spPr>
          <a:xfrm>
            <a:off x="-55075" y="-38100"/>
            <a:ext cx="3312625" cy="5214650"/>
          </a:xfrm>
          <a:custGeom>
            <a:avLst/>
            <a:gdLst/>
            <a:ahLst/>
            <a:cxnLst/>
            <a:rect l="l" t="t" r="r" b="b"/>
            <a:pathLst>
              <a:path w="132505" h="208586" extrusionOk="0">
                <a:moveTo>
                  <a:pt x="132505" y="207264"/>
                </a:moveTo>
                <a:lnTo>
                  <a:pt x="25063" y="0"/>
                </a:lnTo>
                <a:lnTo>
                  <a:pt x="0" y="202"/>
                </a:lnTo>
                <a:lnTo>
                  <a:pt x="1322" y="208586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sp>
        <p:nvSpPr>
          <p:cNvPr id="95" name="Google Shape;95;p11"/>
          <p:cNvSpPr/>
          <p:nvPr/>
        </p:nvSpPr>
        <p:spPr>
          <a:xfrm flipH="1">
            <a:off x="-903537" y="-17561"/>
            <a:ext cx="1759200" cy="749100"/>
          </a:xfrm>
          <a:prstGeom prst="parallelogram">
            <a:avLst>
              <a:gd name="adj" fmla="val 51542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1"/>
          <p:cNvSpPr/>
          <p:nvPr/>
        </p:nvSpPr>
        <p:spPr>
          <a:xfrm flipH="1">
            <a:off x="472134" y="-9525"/>
            <a:ext cx="518400" cy="749100"/>
          </a:xfrm>
          <a:prstGeom prst="parallelogram">
            <a:avLst>
              <a:gd name="adj" fmla="val 7500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1"/>
          <p:cNvSpPr/>
          <p:nvPr/>
        </p:nvSpPr>
        <p:spPr>
          <a:xfrm flipH="1">
            <a:off x="990375" y="4925850"/>
            <a:ext cx="8369700" cy="228000"/>
          </a:xfrm>
          <a:prstGeom prst="parallelogram">
            <a:avLst>
              <a:gd name="adj" fmla="val 51542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1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594900" cy="73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inverted">
  <p:cSld name="BLANK_1">
    <p:bg>
      <p:bgPr>
        <a:solidFill>
          <a:schemeClr val="dk1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2"/>
          <p:cNvSpPr/>
          <p:nvPr/>
        </p:nvSpPr>
        <p:spPr>
          <a:xfrm>
            <a:off x="-55075" y="-38100"/>
            <a:ext cx="3312625" cy="5214650"/>
          </a:xfrm>
          <a:custGeom>
            <a:avLst/>
            <a:gdLst/>
            <a:ahLst/>
            <a:cxnLst/>
            <a:rect l="l" t="t" r="r" b="b"/>
            <a:pathLst>
              <a:path w="132505" h="208586" extrusionOk="0">
                <a:moveTo>
                  <a:pt x="132505" y="207264"/>
                </a:moveTo>
                <a:lnTo>
                  <a:pt x="25063" y="0"/>
                </a:lnTo>
                <a:lnTo>
                  <a:pt x="0" y="202"/>
                </a:lnTo>
                <a:lnTo>
                  <a:pt x="1322" y="20858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01" name="Google Shape;101;p12"/>
          <p:cNvSpPr/>
          <p:nvPr/>
        </p:nvSpPr>
        <p:spPr>
          <a:xfrm flipH="1">
            <a:off x="-903537" y="-17561"/>
            <a:ext cx="1759200" cy="749100"/>
          </a:xfrm>
          <a:prstGeom prst="parallelogram">
            <a:avLst>
              <a:gd name="adj" fmla="val 51542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2"/>
          <p:cNvSpPr/>
          <p:nvPr/>
        </p:nvSpPr>
        <p:spPr>
          <a:xfrm flipH="1">
            <a:off x="472134" y="-9525"/>
            <a:ext cx="518400" cy="749100"/>
          </a:xfrm>
          <a:prstGeom prst="parallelogram">
            <a:avLst>
              <a:gd name="adj" fmla="val 7500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2"/>
          <p:cNvSpPr/>
          <p:nvPr/>
        </p:nvSpPr>
        <p:spPr>
          <a:xfrm flipH="1">
            <a:off x="990375" y="4925850"/>
            <a:ext cx="8369700" cy="228000"/>
          </a:xfrm>
          <a:prstGeom prst="parallelogram">
            <a:avLst>
              <a:gd name="adj" fmla="val 51542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2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594900" cy="73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104900" y="276075"/>
            <a:ext cx="6724500" cy="7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osis"/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osis"/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osis"/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osis"/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osis"/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osis"/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osis"/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osis"/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osis"/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104900" y="1200150"/>
            <a:ext cx="7581900" cy="3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"/>
              <a:buChar char="▸"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Roboto"/>
              <a:buChar char="▹"/>
              <a:defRPr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"/>
              <a:buChar char="▹"/>
              <a:defRPr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Roboto"/>
              <a:buChar char="▹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Roboto"/>
              <a:buChar char="▹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Roboto"/>
              <a:buChar char="▹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Roboto"/>
              <a:buChar char="▹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Roboto"/>
              <a:buChar char="▹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Roboto"/>
              <a:buChar char="▹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59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buNone/>
              <a:defRPr sz="13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buNone/>
              <a:defRPr sz="13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buNone/>
              <a:defRPr sz="13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buNone/>
              <a:defRPr sz="13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buNone/>
              <a:defRPr sz="13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buNone/>
              <a:defRPr sz="13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buNone/>
              <a:defRPr sz="13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buNone/>
              <a:defRPr sz="13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buNone/>
              <a:defRPr sz="13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7" r:id="rId9"/>
    <p:sldLayoutId id="2147483658" r:id="rId10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%D0%A2%D0%B5%D0%BA%D1%81%D1%82%D0%BE%D0%B2%D1%8B%D0%B9_%D0%BF%D1%80%D0%BE%D1%86%D0%B5%D1%81%D1%81%D0%BE%D1%80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="" xmlns:a16="http://schemas.microsoft.com/office/drawing/2014/main" id="{15A50779-78F1-4D3D-85A3-5EDA7A2A51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163" y="748950"/>
            <a:ext cx="8005674" cy="11354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3A406F06-A567-47F9-B2D1-1305FC1579FE}"/>
              </a:ext>
            </a:extLst>
          </p:cNvPr>
          <p:cNvSpPr txBox="1"/>
          <p:nvPr/>
        </p:nvSpPr>
        <p:spPr>
          <a:xfrm>
            <a:off x="6780048" y="3809775"/>
            <a:ext cx="29644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Выполнили студенты </a:t>
            </a:r>
          </a:p>
          <a:p>
            <a:r>
              <a:rPr lang="ru-RU" sz="1600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группы </a:t>
            </a:r>
            <a:r>
              <a:rPr lang="ru-RU" sz="1600" dirty="0" smtClean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41 </a:t>
            </a:r>
            <a:r>
              <a:rPr lang="ru-RU" sz="1600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ИС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 txBox="1">
            <a:spLocks noGrp="1"/>
          </p:cNvSpPr>
          <p:nvPr>
            <p:ph type="ctrTitle"/>
          </p:nvPr>
        </p:nvSpPr>
        <p:spPr>
          <a:xfrm>
            <a:off x="701903" y="1453243"/>
            <a:ext cx="6172426" cy="258308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dirty="0"/>
              <a:t>Отчет о производственной практике в издательстве «Просвещение»</a:t>
            </a:r>
            <a:endParaRPr sz="4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4"/>
          <p:cNvSpPr txBox="1">
            <a:spLocks noGrp="1"/>
          </p:cNvSpPr>
          <p:nvPr>
            <p:ph type="title"/>
          </p:nvPr>
        </p:nvSpPr>
        <p:spPr>
          <a:xfrm>
            <a:off x="1101386" y="272850"/>
            <a:ext cx="7574400" cy="74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Цели практики</a:t>
            </a:r>
            <a:endParaRPr dirty="0"/>
          </a:p>
        </p:txBody>
      </p:sp>
      <p:sp>
        <p:nvSpPr>
          <p:cNvPr id="115" name="Google Shape;115;p14"/>
          <p:cNvSpPr txBox="1">
            <a:spLocks noGrp="1"/>
          </p:cNvSpPr>
          <p:nvPr>
            <p:ph type="body" idx="2"/>
          </p:nvPr>
        </p:nvSpPr>
        <p:spPr>
          <a:xfrm>
            <a:off x="541944" y="1742881"/>
            <a:ext cx="4204372" cy="29315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400" b="1" dirty="0">
                <a:highlight>
                  <a:schemeClr val="accent1"/>
                </a:highlight>
              </a:rPr>
              <a:t>Были достигнуты такие цели как:</a:t>
            </a:r>
            <a:endParaRPr sz="1400" dirty="0">
              <a:highlight>
                <a:schemeClr val="accent1"/>
              </a:highlight>
            </a:endParaRPr>
          </a:p>
          <a:p>
            <a:pPr algn="l"/>
            <a:r>
              <a:rPr lang="ru-RU" sz="1400" dirty="0"/>
              <a:t>научиться работать в команде;</a:t>
            </a:r>
          </a:p>
          <a:p>
            <a:pPr algn="l"/>
            <a:r>
              <a:rPr lang="ru-RU" sz="1400" dirty="0"/>
              <a:t>усвоение приемов, методов и способов обработки информации;</a:t>
            </a:r>
          </a:p>
          <a:p>
            <a:pPr algn="l"/>
            <a:r>
              <a:rPr lang="ru-RU" sz="1400" dirty="0"/>
              <a:t>изучение специальных программных продуктов;</a:t>
            </a:r>
          </a:p>
          <a:p>
            <a:pPr algn="l"/>
            <a:r>
              <a:rPr lang="ru-RU" sz="1400" dirty="0"/>
              <a:t>изучение структуры и работы предприятия, знакомство с документами и техникой безопасности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116" name="Google Shape;116;p14"/>
          <p:cNvSpPr txBox="1">
            <a:spLocks noGrp="1"/>
          </p:cNvSpPr>
          <p:nvPr>
            <p:ph type="body" idx="2"/>
          </p:nvPr>
        </p:nvSpPr>
        <p:spPr>
          <a:xfrm>
            <a:off x="4772451" y="1733162"/>
            <a:ext cx="3877200" cy="25886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400" b="1" dirty="0">
                <a:highlight>
                  <a:schemeClr val="accent1"/>
                </a:highlight>
              </a:rPr>
              <a:t>Задачи :</a:t>
            </a:r>
            <a:endParaRPr sz="1400" dirty="0">
              <a:highlight>
                <a:schemeClr val="accent1"/>
              </a:highlight>
            </a:endParaRPr>
          </a:p>
          <a:p>
            <a:pPr algn="l"/>
            <a:r>
              <a:rPr lang="ru-RU" sz="1400" dirty="0"/>
              <a:t>Так как мы работали с учебниками, наши задачи были связаны с ними.</a:t>
            </a:r>
          </a:p>
          <a:p>
            <a:pPr algn="l"/>
            <a:r>
              <a:rPr lang="ru-RU" sz="1400" dirty="0"/>
              <a:t>Наша главная задача была обработать информацию в учебниках.</a:t>
            </a:r>
          </a:p>
          <a:p>
            <a:pPr algn="l"/>
            <a:r>
              <a:rPr lang="ru-RU" sz="1400" dirty="0"/>
              <a:t>Мы должны были обработать текст и картинки, сделать их в надлежащий вид, понятный и красивый. Так же была задача обработать формулы в учебниках математики.</a:t>
            </a:r>
          </a:p>
        </p:txBody>
      </p:sp>
      <p:sp>
        <p:nvSpPr>
          <p:cNvPr id="117" name="Google Shape;117;p14"/>
          <p:cNvSpPr txBox="1">
            <a:spLocks noGrp="1"/>
          </p:cNvSpPr>
          <p:nvPr>
            <p:ph type="body" idx="2"/>
          </p:nvPr>
        </p:nvSpPr>
        <p:spPr>
          <a:xfrm>
            <a:off x="541944" y="1041814"/>
            <a:ext cx="8133842" cy="82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400" dirty="0"/>
              <a:t>Главная цель прохождения производственной практики – получение профессиональных навыков и умений работы в условиях реального производства.</a:t>
            </a:r>
            <a:endParaRPr sz="1400" dirty="0"/>
          </a:p>
        </p:txBody>
      </p:sp>
      <p:sp>
        <p:nvSpPr>
          <p:cNvPr id="118" name="Google Shape;118;p14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594900" cy="73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594900" cy="73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1028" name="Picture 4" descr="Просвещение (издательство) — Википедия">
            <a:extLst>
              <a:ext uri="{FF2B5EF4-FFF2-40B4-BE49-F238E27FC236}">
                <a16:creationId xmlns="" xmlns:a16="http://schemas.microsoft.com/office/drawing/2014/main" id="{E887D363-FE1E-44DB-B839-0055143792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65850"/>
            <a:ext cx="3672970" cy="1502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B019D1B5-B97D-4E89-827D-4ECCCFA2C2F0}"/>
              </a:ext>
            </a:extLst>
          </p:cNvPr>
          <p:cNvSpPr txBox="1"/>
          <p:nvPr/>
        </p:nvSpPr>
        <p:spPr>
          <a:xfrm>
            <a:off x="4572000" y="2295212"/>
            <a:ext cx="442504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sym typeface="Dosis"/>
              </a:rPr>
              <a:t>Издательство «Просвещение» имеет богатую и яркую историю, многолетние традиции, неразрывно связанные с историей страны и системы образования</a:t>
            </a:r>
            <a:r>
              <a:rPr lang="ru-RU" b="0" i="0" dirty="0">
                <a:solidFill>
                  <a:srgbClr val="333333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  <a:endParaRPr lang="ru-RU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2" name="Picture 4" descr="Издательство &amp;quot;Просвещение&amp;quot;">
            <a:extLst>
              <a:ext uri="{FF2B5EF4-FFF2-40B4-BE49-F238E27FC236}">
                <a16:creationId xmlns="" xmlns:a16="http://schemas.microsoft.com/office/drawing/2014/main" id="{4141B505-EF8B-4632-830F-BE7B21A281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350" y="1345590"/>
            <a:ext cx="3678480" cy="2452320"/>
          </a:xfrm>
          <a:prstGeom prst="rect">
            <a:avLst/>
          </a:prstGeom>
          <a:ln>
            <a:noFill/>
          </a:ln>
          <a:effectLst>
            <a:innerShdw blurRad="304800" dist="50800" dir="10800000">
              <a:prstClr val="black">
                <a:alpha val="54000"/>
              </a:prstClr>
            </a:innerShdw>
            <a:reflection blurRad="190500" stA="32000" endPos="74000" dist="114300" dir="5400000" sy="-100000" algn="bl" rotWithShape="0"/>
          </a:effectLst>
          <a:scene3d>
            <a:camera prst="perspectiveRight" fov="3900000">
              <a:rot lat="0" lon="20999994" rev="0"/>
            </a:camera>
            <a:lightRig rig="flood" dir="t"/>
          </a:scene3d>
          <a:sp3d>
            <a:bevelT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6"/>
          <p:cNvSpPr txBox="1">
            <a:spLocks noGrp="1"/>
          </p:cNvSpPr>
          <p:nvPr>
            <p:ph type="ctrTitle"/>
          </p:nvPr>
        </p:nvSpPr>
        <p:spPr>
          <a:xfrm>
            <a:off x="2003976" y="-166843"/>
            <a:ext cx="6955972" cy="89854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/>
              <a:t>Издательство «Просвещение»</a:t>
            </a:r>
            <a:endParaRPr sz="2800" dirty="0"/>
          </a:p>
        </p:txBody>
      </p:sp>
      <p:sp>
        <p:nvSpPr>
          <p:cNvPr id="133" name="Google Shape;133;p16"/>
          <p:cNvSpPr txBox="1">
            <a:spLocks noGrp="1"/>
          </p:cNvSpPr>
          <p:nvPr>
            <p:ph type="sldNum" idx="4294967295"/>
          </p:nvPr>
        </p:nvSpPr>
        <p:spPr>
          <a:xfrm>
            <a:off x="0" y="0"/>
            <a:ext cx="594900" cy="73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6" name="Picture 4" descr="https://newvz.ru/wp-content/uploads/2021/04/banki-2.jpg">
            <a:extLst>
              <a:ext uri="{FF2B5EF4-FFF2-40B4-BE49-F238E27FC236}">
                <a16:creationId xmlns="" xmlns:a16="http://schemas.microsoft.com/office/drawing/2014/main" id="{E5AE9166-A5C9-4BD6-9141-139A75688F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2343" y="1035151"/>
            <a:ext cx="3277605" cy="2458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CFE09189-4D68-4041-BA70-8609758ABF9E}"/>
              </a:ext>
            </a:extLst>
          </p:cNvPr>
          <p:cNvSpPr txBox="1"/>
          <p:nvPr/>
        </p:nvSpPr>
        <p:spPr>
          <a:xfrm>
            <a:off x="184052" y="951033"/>
            <a:ext cx="6001305" cy="10259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>
                <a:solidFill>
                  <a:schemeClr val="dk1"/>
                </a:solidFill>
                <a:latin typeface="Roboto"/>
                <a:ea typeface="Roboto"/>
                <a:sym typeface="Roboto"/>
              </a:rPr>
              <a:t>Издательство 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sym typeface="Roboto"/>
              </a:rPr>
              <a:t>“</a:t>
            </a:r>
            <a:r>
              <a:rPr lang="ru-RU" dirty="0">
                <a:solidFill>
                  <a:schemeClr val="dk1"/>
                </a:solidFill>
                <a:latin typeface="Roboto"/>
                <a:ea typeface="Roboto"/>
                <a:sym typeface="Roboto"/>
              </a:rPr>
              <a:t>Просвещение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sym typeface="Roboto"/>
              </a:rPr>
              <a:t>”</a:t>
            </a:r>
            <a:r>
              <a:rPr lang="ru-RU" dirty="0">
                <a:solidFill>
                  <a:schemeClr val="dk1"/>
                </a:solidFill>
                <a:latin typeface="Roboto"/>
                <a:ea typeface="Roboto"/>
                <a:sym typeface="Roboto"/>
              </a:rPr>
              <a:t> было создано в 1930 году постановлением ЦИК (Центральный исполнительный комитет) и СНК (Совет народных комиссаров) СССР.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2D35243-3A6F-4E01-B328-53CF79EF319A}"/>
              </a:ext>
            </a:extLst>
          </p:cNvPr>
          <p:cNvSpPr txBox="1"/>
          <p:nvPr/>
        </p:nvSpPr>
        <p:spPr>
          <a:xfrm>
            <a:off x="184052" y="2124591"/>
            <a:ext cx="5358992" cy="1528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</a:rPr>
              <a:t>Издательство занимается, созданием учебных пособий (учебники) для общеобразовательных и высших учебных заведений, полиграфией и книжной торговлей</a:t>
            </a:r>
            <a:r>
              <a:rPr lang="ru-RU" sz="1200" dirty="0"/>
              <a:t>.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"/>
          <p:cNvSpPr txBox="1">
            <a:spLocks noGrp="1"/>
          </p:cNvSpPr>
          <p:nvPr>
            <p:ph type="title"/>
          </p:nvPr>
        </p:nvSpPr>
        <p:spPr>
          <a:xfrm>
            <a:off x="1104900" y="276075"/>
            <a:ext cx="6724500" cy="74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Организационная структура предприятия</a:t>
            </a:r>
            <a:endParaRPr dirty="0"/>
          </a:p>
        </p:txBody>
      </p:sp>
      <p:sp>
        <p:nvSpPr>
          <p:cNvPr id="145" name="Google Shape;145;p18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594900" cy="73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7" name="Объект 2">
            <a:extLst>
              <a:ext uri="{FF2B5EF4-FFF2-40B4-BE49-F238E27FC236}">
                <a16:creationId xmlns="" xmlns:a16="http://schemas.microsoft.com/office/drawing/2014/main" id="{E53A4504-C2AD-4C2C-8F73-3E145D6E2920}"/>
              </a:ext>
            </a:extLst>
          </p:cNvPr>
          <p:cNvSpPr txBox="1">
            <a:spLocks/>
          </p:cNvSpPr>
          <p:nvPr/>
        </p:nvSpPr>
        <p:spPr>
          <a:xfrm>
            <a:off x="126749" y="1337375"/>
            <a:ext cx="4862349" cy="3806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"/>
              <a:buChar char="▸"/>
              <a:defRPr sz="3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Roboto"/>
              <a:buChar char="▹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"/>
              <a:buChar char="▹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Roboto"/>
              <a:buChar char="▹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Roboto"/>
              <a:buChar char="▹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Roboto"/>
              <a:buChar char="▹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Roboto"/>
              <a:buChar char="▹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Roboto"/>
              <a:buChar char="▹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Roboto"/>
              <a:buChar char="▹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Font typeface="Roboto"/>
              <a:buNone/>
            </a:pPr>
            <a:r>
              <a:rPr lang="ru-RU" sz="1600" dirty="0"/>
              <a:t>В организационную структуру предприятия Издательства </a:t>
            </a:r>
            <a:r>
              <a:rPr lang="en-US" sz="1600" dirty="0"/>
              <a:t>“</a:t>
            </a:r>
            <a:r>
              <a:rPr lang="ru-RU" sz="1600" dirty="0"/>
              <a:t>Просвещение</a:t>
            </a:r>
            <a:r>
              <a:rPr lang="en-US" sz="1600" dirty="0"/>
              <a:t>”</a:t>
            </a:r>
            <a:r>
              <a:rPr lang="ru-RU" sz="1600" dirty="0"/>
              <a:t> входят:</a:t>
            </a:r>
          </a:p>
          <a:p>
            <a:r>
              <a:rPr lang="ru-RU" sz="1600" dirty="0"/>
              <a:t>Управляющий директор</a:t>
            </a:r>
          </a:p>
          <a:p>
            <a:r>
              <a:rPr lang="ru-RU" sz="1600" dirty="0"/>
              <a:t>Главный редактор</a:t>
            </a:r>
          </a:p>
          <a:p>
            <a:r>
              <a:rPr lang="ru-RU" sz="1600" dirty="0"/>
              <a:t>Директор по внешним коммуникациям</a:t>
            </a:r>
          </a:p>
          <a:p>
            <a:r>
              <a:rPr lang="ru-RU" sz="1600" dirty="0"/>
              <a:t>Финансовый директор</a:t>
            </a:r>
          </a:p>
          <a:p>
            <a:r>
              <a:rPr lang="ru-RU" sz="1600" dirty="0"/>
              <a:t>Директор по производству </a:t>
            </a:r>
          </a:p>
          <a:p>
            <a:r>
              <a:rPr lang="ru-RU" sz="1600" dirty="0"/>
              <a:t>Директор по персоналу </a:t>
            </a:r>
          </a:p>
          <a:p>
            <a:pPr marL="0" indent="0">
              <a:buFont typeface="Roboto"/>
              <a:buNone/>
            </a:pPr>
            <a:r>
              <a:rPr lang="ru-RU" sz="1600" dirty="0"/>
              <a:t>И т.д.</a:t>
            </a:r>
          </a:p>
          <a:p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="" xmlns:a16="http://schemas.microsoft.com/office/drawing/2014/main" id="{94AD2EDE-AC3D-46FF-B4E5-62D8CC8FCA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2349" y="1337375"/>
            <a:ext cx="4154902" cy="28046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0"/>
          <p:cNvSpPr txBox="1">
            <a:spLocks noGrp="1"/>
          </p:cNvSpPr>
          <p:nvPr>
            <p:ph type="body" idx="1"/>
          </p:nvPr>
        </p:nvSpPr>
        <p:spPr>
          <a:xfrm>
            <a:off x="3894365" y="1332750"/>
            <a:ext cx="4974964" cy="353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2000" dirty="0">
                <a:solidFill>
                  <a:srgbClr val="C00000"/>
                </a:solidFill>
              </a:rPr>
              <a:t>На практике были изучены назначение нашей деятельности, а также принципы и способы, по которым построены, функционируют, практически используются созданные на предприятии электронные учебники, рабочие тетради, атласы и многие другие издания. </a:t>
            </a:r>
            <a:endParaRPr sz="2000" dirty="0">
              <a:solidFill>
                <a:srgbClr val="C00000"/>
              </a:solidFill>
            </a:endParaRPr>
          </a:p>
        </p:txBody>
      </p:sp>
      <p:sp>
        <p:nvSpPr>
          <p:cNvPr id="170" name="Google Shape;170;p20"/>
          <p:cNvSpPr txBox="1">
            <a:spLocks noGrp="1"/>
          </p:cNvSpPr>
          <p:nvPr>
            <p:ph type="title"/>
          </p:nvPr>
        </p:nvSpPr>
        <p:spPr>
          <a:xfrm>
            <a:off x="1101386" y="272850"/>
            <a:ext cx="7574400" cy="74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Рабочее место студента</a:t>
            </a:r>
            <a:endParaRPr dirty="0"/>
          </a:p>
        </p:txBody>
      </p:sp>
      <p:sp>
        <p:nvSpPr>
          <p:cNvPr id="172" name="Google Shape;172;p20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594900" cy="73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71FBE671-781F-48DC-A272-0C0C5F1FC367}"/>
              </a:ext>
            </a:extLst>
          </p:cNvPr>
          <p:cNvSpPr txBox="1"/>
          <p:nvPr/>
        </p:nvSpPr>
        <p:spPr>
          <a:xfrm>
            <a:off x="933061" y="4076854"/>
            <a:ext cx="27526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chemeClr val="dk1"/>
                </a:solidFill>
                <a:latin typeface="Roboto"/>
                <a:ea typeface="Roboto"/>
                <a:sym typeface="Roboto"/>
              </a:rPr>
              <a:t>Фото рабочего места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0030" y="1332750"/>
            <a:ext cx="2038738" cy="271831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 txBox="1">
            <a:spLocks noGrp="1"/>
          </p:cNvSpPr>
          <p:nvPr>
            <p:ph type="title"/>
          </p:nvPr>
        </p:nvSpPr>
        <p:spPr>
          <a:xfrm>
            <a:off x="1104900" y="276075"/>
            <a:ext cx="6724500" cy="74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Задания данные студентам</a:t>
            </a:r>
            <a:endParaRPr dirty="0"/>
          </a:p>
        </p:txBody>
      </p:sp>
      <p:sp>
        <p:nvSpPr>
          <p:cNvPr id="178" name="Google Shape;178;p21"/>
          <p:cNvSpPr txBox="1">
            <a:spLocks noGrp="1"/>
          </p:cNvSpPr>
          <p:nvPr>
            <p:ph type="body" idx="1"/>
          </p:nvPr>
        </p:nvSpPr>
        <p:spPr>
          <a:xfrm>
            <a:off x="297450" y="1318425"/>
            <a:ext cx="7761514" cy="354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C00000"/>
                </a:solidFill>
              </a:rPr>
              <a:t>Одним из заданий была работа с учебниками, где нам было предоставлены сами издания и скрипт для работы. Также несколько ребят были заняты созданием формул для алгебры, математики, геометрии. В ходе работы в отделе удалось познакомиться с интересными личностями, которые нам помогали на протяжении всей практики и относились к нам с уважением, как и мы к ним</a:t>
            </a:r>
            <a:endParaRPr dirty="0">
              <a:solidFill>
                <a:srgbClr val="C00000"/>
              </a:solidFill>
            </a:endParaRPr>
          </a:p>
        </p:txBody>
      </p:sp>
      <p:sp>
        <p:nvSpPr>
          <p:cNvPr id="181" name="Google Shape;181;p21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594900" cy="73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2"/>
          <p:cNvSpPr txBox="1">
            <a:spLocks noGrp="1"/>
          </p:cNvSpPr>
          <p:nvPr>
            <p:ph type="title"/>
          </p:nvPr>
        </p:nvSpPr>
        <p:spPr>
          <a:xfrm>
            <a:off x="1104900" y="276075"/>
            <a:ext cx="6724500" cy="74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Виды деятельности</a:t>
            </a:r>
            <a:endParaRPr dirty="0"/>
          </a:p>
        </p:txBody>
      </p:sp>
      <p:sp>
        <p:nvSpPr>
          <p:cNvPr id="188" name="Google Shape;188;p22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594900" cy="73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pic>
        <p:nvPicPr>
          <p:cNvPr id="189" name="Google Shape;189;p22" descr="2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3775790" y="1025175"/>
            <a:ext cx="6279900" cy="3532800"/>
          </a:xfrm>
          <a:prstGeom prst="parallelogram">
            <a:avLst>
              <a:gd name="adj" fmla="val 51555"/>
            </a:avLst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C50C2551-AFA3-416F-8DC3-E5AE280920D0}"/>
              </a:ext>
            </a:extLst>
          </p:cNvPr>
          <p:cNvSpPr txBox="1"/>
          <p:nvPr/>
        </p:nvSpPr>
        <p:spPr>
          <a:xfrm>
            <a:off x="89031" y="2074148"/>
            <a:ext cx="448296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buClr>
                <a:schemeClr val="accent1"/>
              </a:buClr>
              <a:buSzPts val="3000"/>
              <a:buFont typeface="Roboto"/>
            </a:pPr>
            <a:r>
              <a:rPr lang="ru-RU" sz="1800" dirty="0">
                <a:solidFill>
                  <a:srgbClr val="C00000"/>
                </a:solidFill>
                <a:latin typeface="Roboto"/>
                <a:ea typeface="Roboto"/>
                <a:sym typeface="Roboto"/>
              </a:rPr>
              <a:t>Были предоставлены на предприятии основные две задачи:</a:t>
            </a:r>
          </a:p>
          <a:p>
            <a:pPr marL="285750" indent="-285750">
              <a:spcBef>
                <a:spcPts val="600"/>
              </a:spcBef>
              <a:buClr>
                <a:schemeClr val="accent1"/>
              </a:buClr>
              <a:buSzPts val="3000"/>
              <a:buFont typeface="Wingdings" panose="05000000000000000000" pitchFamily="2" charset="2"/>
              <a:buChar char="v"/>
            </a:pPr>
            <a:r>
              <a:rPr lang="ru-RU" sz="1800" dirty="0">
                <a:solidFill>
                  <a:srgbClr val="C00000"/>
                </a:solidFill>
                <a:latin typeface="Roboto"/>
                <a:ea typeface="Roboto"/>
                <a:sym typeface="Roboto"/>
              </a:rPr>
              <a:t>Работа с учебниками(со скриптом и без);</a:t>
            </a:r>
          </a:p>
          <a:p>
            <a:pPr marL="285750" indent="-285750">
              <a:spcBef>
                <a:spcPts val="600"/>
              </a:spcBef>
              <a:buClr>
                <a:schemeClr val="accent1"/>
              </a:buClr>
              <a:buSzPts val="3000"/>
              <a:buFont typeface="Wingdings" panose="05000000000000000000" pitchFamily="2" charset="2"/>
              <a:buChar char="v"/>
            </a:pPr>
            <a:r>
              <a:rPr lang="ru-RU" sz="1800" dirty="0">
                <a:solidFill>
                  <a:srgbClr val="C00000"/>
                </a:solidFill>
                <a:latin typeface="Roboto"/>
                <a:ea typeface="Roboto"/>
                <a:sym typeface="Roboto"/>
              </a:rPr>
              <a:t>Работа с формулами.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8CD2B435-971D-4F71-812E-B1D2DDBC0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Распределение обязанностей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="" xmlns:a16="http://schemas.microsoft.com/office/drawing/2014/main" id="{0D4FD065-A45E-4056-90C9-AC1C198A3C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3625" y="1695375"/>
            <a:ext cx="3522075" cy="3648300"/>
          </a:xfrm>
        </p:spPr>
        <p:txBody>
          <a:bodyPr/>
          <a:lstStyle/>
          <a:p>
            <a:r>
              <a:rPr lang="ru-RU" sz="1600" dirty="0"/>
              <a:t>Были выданы для каждого студента свои учебники, чтобы их с помощью скрипта обработать и проверить работоспособность исходного материала.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D2AA625E-72DF-4BE1-A5EB-A2697E7C833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  <p:pic>
        <p:nvPicPr>
          <p:cNvPr id="5" name="Рисунок 4">
            <a:extLst>
              <a:ext uri="{FF2B5EF4-FFF2-40B4-BE49-F238E27FC236}">
                <a16:creationId xmlns="" xmlns:a16="http://schemas.microsoft.com/office/drawing/2014/main" id="{F0695B3D-F454-4468-B69A-A763206F0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171" y="1219125"/>
            <a:ext cx="4823379" cy="2832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7060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5"/>
          <p:cNvSpPr txBox="1">
            <a:spLocks noGrp="1"/>
          </p:cNvSpPr>
          <p:nvPr>
            <p:ph type="title"/>
          </p:nvPr>
        </p:nvSpPr>
        <p:spPr>
          <a:xfrm>
            <a:off x="1104900" y="276075"/>
            <a:ext cx="6724500" cy="74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Работа с учебниками</a:t>
            </a:r>
            <a:endParaRPr dirty="0"/>
          </a:p>
        </p:txBody>
      </p:sp>
      <p:sp>
        <p:nvSpPr>
          <p:cNvPr id="211" name="Google Shape;211;p25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594900" cy="73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3EED2AE-FC7F-4F84-8EA9-BDB844A29884}"/>
              </a:ext>
            </a:extLst>
          </p:cNvPr>
          <p:cNvSpPr txBox="1"/>
          <p:nvPr/>
        </p:nvSpPr>
        <p:spPr>
          <a:xfrm>
            <a:off x="362764" y="1417588"/>
            <a:ext cx="474807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800" dirty="0">
                <a:solidFill>
                  <a:schemeClr val="dk1"/>
                </a:solidFill>
                <a:latin typeface="Roboto"/>
                <a:ea typeface="Roboto"/>
              </a:rPr>
              <a:t>Учебники с которыми мы работали в издательстве ничем не отличались друг от друга.</a:t>
            </a:r>
          </a:p>
          <a:p>
            <a:pPr algn="just"/>
            <a:r>
              <a:rPr lang="ru-RU" sz="1800" dirty="0">
                <a:solidFill>
                  <a:schemeClr val="dk1"/>
                </a:solidFill>
                <a:latin typeface="Roboto"/>
                <a:ea typeface="Roboto"/>
              </a:rPr>
              <a:t>Все они имели отношение к школьной программе и состояли в основном из книг по: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dk1"/>
                </a:solidFill>
                <a:latin typeface="Roboto"/>
                <a:ea typeface="Roboto"/>
              </a:rPr>
              <a:t>Алгебре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dk1"/>
                </a:solidFill>
                <a:latin typeface="Roboto"/>
                <a:ea typeface="Roboto"/>
              </a:rPr>
              <a:t>Химии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dk1"/>
                </a:solidFill>
                <a:latin typeface="Roboto"/>
                <a:ea typeface="Roboto"/>
              </a:rPr>
              <a:t>Литературе</a:t>
            </a:r>
          </a:p>
          <a:p>
            <a:pPr algn="just"/>
            <a:r>
              <a:rPr lang="ru-RU" sz="1800" dirty="0">
                <a:solidFill>
                  <a:schemeClr val="dk1"/>
                </a:solidFill>
                <a:latin typeface="Roboto"/>
                <a:ea typeface="Roboto"/>
              </a:rPr>
              <a:t>и т.д.  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="" xmlns:a16="http://schemas.microsoft.com/office/drawing/2014/main" id="{8225D261-AF10-4C90-A5FC-721A7F8716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4757" y="1417588"/>
            <a:ext cx="3539766" cy="2974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8"/>
          <p:cNvSpPr txBox="1">
            <a:spLocks noGrp="1"/>
          </p:cNvSpPr>
          <p:nvPr>
            <p:ph type="ctrTitle" idx="4294967295"/>
          </p:nvPr>
        </p:nvSpPr>
        <p:spPr>
          <a:xfrm>
            <a:off x="1123650" y="188802"/>
            <a:ext cx="6896700" cy="89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0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 Regular" panose="00000500000000000000" pitchFamily="50" charset="-52"/>
              </a:rPr>
              <a:t> </a:t>
            </a:r>
            <a:r>
              <a:rPr lang="en-US" sz="6000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In </a:t>
            </a:r>
            <a:r>
              <a:rPr lang="en-US" sz="6000" u="sng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Design</a:t>
            </a:r>
            <a:r>
              <a:rPr lang="en-US" sz="2800" u="sng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|Adobe</a:t>
            </a:r>
            <a:r>
              <a:rPr lang="en-US" sz="2800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|</a:t>
            </a:r>
            <a:endParaRPr sz="6000" dirty="0">
              <a:solidFill>
                <a:schemeClr val="tx1"/>
              </a:solidFill>
            </a:endParaRPr>
          </a:p>
        </p:txBody>
      </p:sp>
      <p:sp>
        <p:nvSpPr>
          <p:cNvPr id="243" name="Google Shape;243;p28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594900" cy="73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C472E7BA-FD04-4C44-A0AA-0EC630BE0005}"/>
              </a:ext>
            </a:extLst>
          </p:cNvPr>
          <p:cNvSpPr txBox="1"/>
          <p:nvPr/>
        </p:nvSpPr>
        <p:spPr>
          <a:xfrm>
            <a:off x="297450" y="1648643"/>
            <a:ext cx="809687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solidFill>
                  <a:schemeClr val="dk1"/>
                </a:solidFill>
                <a:latin typeface="Roboto"/>
                <a:ea typeface="Roboto"/>
                <a:sym typeface="Roboto"/>
              </a:rPr>
              <a:t>Работа над учебниками происходила в программе 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sym typeface="Roboto"/>
              </a:rPr>
              <a:t>Adobe</a:t>
            </a:r>
            <a:r>
              <a:rPr lang="ru-RU" sz="1800" dirty="0">
                <a:solidFill>
                  <a:schemeClr val="dk1"/>
                </a:solidFill>
                <a:latin typeface="Roboto"/>
                <a:ea typeface="Roboto"/>
                <a:sym typeface="Roboto"/>
              </a:rPr>
              <a:t> 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sym typeface="Roboto"/>
              </a:rPr>
              <a:t>InDesign</a:t>
            </a:r>
            <a:r>
              <a:rPr lang="ru-RU" sz="1800" dirty="0">
                <a:solidFill>
                  <a:schemeClr val="dk1"/>
                </a:solidFill>
                <a:latin typeface="Roboto"/>
                <a:ea typeface="Roboto"/>
                <a:sym typeface="Roboto"/>
              </a:rPr>
              <a:t>, которая используется для вёрстки</a:t>
            </a:r>
            <a:r>
              <a:rPr lang="ru-RU" sz="2800" dirty="0">
                <a:latin typeface="Bebas Neue Book" panose="00000500000000000000" pitchFamily="50" charset="-52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7CE0DB8C-DCE5-486B-9691-51137749FF1E}"/>
              </a:ext>
            </a:extLst>
          </p:cNvPr>
          <p:cNvSpPr txBox="1"/>
          <p:nvPr/>
        </p:nvSpPr>
        <p:spPr>
          <a:xfrm>
            <a:off x="297450" y="2565587"/>
            <a:ext cx="602170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solidFill>
                  <a:schemeClr val="dk1"/>
                </a:solidFill>
                <a:latin typeface="Roboto"/>
                <a:ea typeface="Roboto"/>
                <a:sym typeface="Roboto"/>
              </a:rPr>
              <a:t>С помощью скрипта, который был написан для обработки текста и изображения используемого в учебниках мы выносили хранимую информацию в отдельный формат, для дальнейшей работы с ним, в последующих отделах</a:t>
            </a:r>
          </a:p>
        </p:txBody>
      </p:sp>
      <p:pic>
        <p:nvPicPr>
          <p:cNvPr id="11" name="Picture 2" descr="Adobe InDesign — Википедия">
            <a:extLst>
              <a:ext uri="{FF2B5EF4-FFF2-40B4-BE49-F238E27FC236}">
                <a16:creationId xmlns="" xmlns:a16="http://schemas.microsoft.com/office/drawing/2014/main" id="{A341428B-383F-4704-8451-CD81B37522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6538" y="2448862"/>
            <a:ext cx="1327789" cy="1294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 txBox="1">
            <a:spLocks noGrp="1"/>
          </p:cNvSpPr>
          <p:nvPr>
            <p:ph type="title"/>
          </p:nvPr>
        </p:nvSpPr>
        <p:spPr>
          <a:xfrm>
            <a:off x="1104900" y="276075"/>
            <a:ext cx="6724500" cy="74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Работа с формулами</a:t>
            </a:r>
            <a:endParaRPr lang="en-US" dirty="0"/>
          </a:p>
        </p:txBody>
      </p:sp>
      <p:sp>
        <p:nvSpPr>
          <p:cNvPr id="204" name="Google Shape;204;p24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594900" cy="73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9" name="Подзаголовок 2">
            <a:extLst>
              <a:ext uri="{FF2B5EF4-FFF2-40B4-BE49-F238E27FC236}">
                <a16:creationId xmlns="" xmlns:a16="http://schemas.microsoft.com/office/drawing/2014/main" id="{D228D150-B94E-4ECF-974C-BA4A83DCA8FC}"/>
              </a:ext>
            </a:extLst>
          </p:cNvPr>
          <p:cNvSpPr txBox="1">
            <a:spLocks/>
          </p:cNvSpPr>
          <p:nvPr/>
        </p:nvSpPr>
        <p:spPr>
          <a:xfrm>
            <a:off x="297450" y="1798462"/>
            <a:ext cx="4572000" cy="1977933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457200"/>
            <a:r>
              <a:rPr lang="ru-RU" sz="1800" dirty="0">
                <a:solidFill>
                  <a:schemeClr val="dk1"/>
                </a:solidFill>
                <a:latin typeface="Roboto"/>
                <a:ea typeface="Roboto"/>
              </a:rPr>
              <a:t>В ходе практики была поставлена такая задача, как работа с формулами.</a:t>
            </a:r>
          </a:p>
          <a:p>
            <a:pPr indent="457200"/>
            <a:r>
              <a:rPr lang="ru-RU" sz="1800" dirty="0">
                <a:solidFill>
                  <a:schemeClr val="dk1"/>
                </a:solidFill>
                <a:latin typeface="Roboto"/>
                <a:ea typeface="Roboto"/>
              </a:rPr>
              <a:t>А именно, нужно было с помощью специальной программы «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</a:rPr>
              <a:t>MathType</a:t>
            </a:r>
            <a:r>
              <a:rPr lang="ru-RU" sz="1800" dirty="0">
                <a:solidFill>
                  <a:schemeClr val="dk1"/>
                </a:solidFill>
                <a:latin typeface="Roboto"/>
                <a:ea typeface="Roboto"/>
              </a:rPr>
              <a:t>» переносить недостающие формулы в «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</a:rPr>
              <a:t>Word</a:t>
            </a:r>
            <a:r>
              <a:rPr lang="ru-RU" sz="1800" dirty="0">
                <a:solidFill>
                  <a:schemeClr val="dk1"/>
                </a:solidFill>
                <a:latin typeface="Roboto"/>
                <a:ea typeface="Roboto"/>
              </a:rPr>
              <a:t>».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="" xmlns:a16="http://schemas.microsoft.com/office/drawing/2014/main" id="{3CB64C9A-AE5A-4D6C-9FB1-A62DE4A54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9400" y="1423912"/>
            <a:ext cx="656745" cy="749100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="" xmlns:a16="http://schemas.microsoft.com/office/drawing/2014/main" id="{DB6301D6-9F71-4361-95EA-8D22D2CCA7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3157" y="2787428"/>
            <a:ext cx="3002462" cy="1977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7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594900" cy="73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0702206B-8204-494F-99EC-777A715D0800}"/>
              </a:ext>
            </a:extLst>
          </p:cNvPr>
          <p:cNvSpPr txBox="1"/>
          <p:nvPr/>
        </p:nvSpPr>
        <p:spPr>
          <a:xfrm>
            <a:off x="1502227" y="127190"/>
            <a:ext cx="7690758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800" dirty="0" err="1">
                <a:solidFill>
                  <a:schemeClr val="dk1"/>
                </a:solidFill>
                <a:latin typeface="Roboto"/>
                <a:ea typeface="Roboto"/>
                <a:sym typeface="Roboto"/>
              </a:rPr>
              <a:t>MathType</a:t>
            </a:r>
            <a:r>
              <a:rPr lang="ru-RU" sz="1800" dirty="0">
                <a:solidFill>
                  <a:schemeClr val="dk1"/>
                </a:solidFill>
                <a:latin typeface="Roboto"/>
                <a:ea typeface="Roboto"/>
                <a:sym typeface="Roboto"/>
              </a:rPr>
              <a:t> — это проприетарное прикладное программное обеспечение, созданное 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sym typeface="Roboto"/>
              </a:rPr>
              <a:t>Design Science</a:t>
            </a:r>
            <a:r>
              <a:rPr lang="ru-RU" sz="1800" dirty="0">
                <a:solidFill>
                  <a:schemeClr val="dk1"/>
                </a:solidFill>
                <a:latin typeface="Roboto"/>
                <a:ea typeface="Roboto"/>
                <a:sym typeface="Roboto"/>
              </a:rPr>
              <a:t> (англ.) русс., представляющее собой интерактивный редактор формул для 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sym typeface="Roboto"/>
              </a:rPr>
              <a:t>Microsoft</a:t>
            </a:r>
            <a:r>
              <a:rPr lang="ru-RU" sz="1800" dirty="0">
                <a:solidFill>
                  <a:schemeClr val="dk1"/>
                </a:solidFill>
                <a:latin typeface="Roboto"/>
                <a:ea typeface="Roboto"/>
                <a:sym typeface="Roboto"/>
              </a:rPr>
              <a:t> 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sym typeface="Roboto"/>
              </a:rPr>
              <a:t>Windows </a:t>
            </a:r>
            <a:r>
              <a:rPr lang="ru-RU" sz="1800" dirty="0">
                <a:solidFill>
                  <a:schemeClr val="dk1"/>
                </a:solidFill>
                <a:latin typeface="Roboto"/>
                <a:ea typeface="Roboto"/>
                <a:sym typeface="Roboto"/>
              </a:rPr>
              <a:t>, который позволяет создавать математические записи для </a:t>
            </a:r>
            <a:r>
              <a:rPr lang="ru-RU" sz="1800" dirty="0">
                <a:solidFill>
                  <a:schemeClr val="dk1"/>
                </a:solidFill>
                <a:latin typeface="Roboto"/>
                <a:ea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</a:t>
            </a:r>
            <a:r>
              <a:rPr lang="ru-RU" sz="1800" dirty="0">
                <a:solidFill>
                  <a:schemeClr val="dk1"/>
                </a:solidFill>
                <a:latin typeface="Roboto"/>
                <a:ea typeface="Roboto"/>
                <a:sym typeface="Roboto"/>
              </a:rPr>
              <a:t>текстовых процессоров </a:t>
            </a:r>
          </a:p>
          <a:p>
            <a:pPr algn="l"/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2F65634A-4C1D-451F-9AA2-C2AEFDBEC515}"/>
              </a:ext>
            </a:extLst>
          </p:cNvPr>
          <p:cNvSpPr txBox="1"/>
          <p:nvPr/>
        </p:nvSpPr>
        <p:spPr>
          <a:xfrm>
            <a:off x="499382" y="1938545"/>
            <a:ext cx="404595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800" dirty="0">
                <a:solidFill>
                  <a:schemeClr val="dk1"/>
                </a:solidFill>
                <a:latin typeface="Roboto"/>
                <a:ea typeface="Roboto"/>
              </a:rPr>
              <a:t>Основные возможности:</a:t>
            </a:r>
          </a:p>
          <a:p>
            <a:pPr marL="285750" indent="-285750" algn="l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ru-RU" sz="1800" dirty="0">
                <a:solidFill>
                  <a:schemeClr val="dk1"/>
                </a:solidFill>
                <a:latin typeface="Roboto"/>
                <a:ea typeface="Roboto"/>
              </a:rPr>
              <a:t>Совместимость с более чем 700 приложениями и веб-сайтами</a:t>
            </a:r>
          </a:p>
          <a:p>
            <a:pPr marL="285750" indent="-285750" algn="l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ru-RU" sz="1800" dirty="0">
                <a:solidFill>
                  <a:schemeClr val="dk1"/>
                </a:solidFill>
                <a:latin typeface="Roboto"/>
                <a:ea typeface="Roboto"/>
              </a:rPr>
              <a:t>Несколько способов создания уравнений</a:t>
            </a:r>
          </a:p>
          <a:p>
            <a:pPr marL="285750" indent="-285750" algn="l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ru-RU" sz="1800" dirty="0">
                <a:solidFill>
                  <a:schemeClr val="dk1"/>
                </a:solidFill>
                <a:latin typeface="Roboto"/>
                <a:ea typeface="Roboto"/>
              </a:rPr>
              <a:t>Копирование и вставка ранее созданных уравнений</a:t>
            </a:r>
          </a:p>
          <a:p>
            <a:pPr marL="285750" indent="-285750" algn="l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ru-RU" sz="1800" dirty="0">
                <a:solidFill>
                  <a:schemeClr val="dk1"/>
                </a:solidFill>
                <a:latin typeface="Roboto"/>
                <a:ea typeface="Roboto"/>
              </a:rPr>
              <a:t>Сохранение часто используемого уравнения на панель инструментов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="" xmlns:a16="http://schemas.microsoft.com/office/drawing/2014/main" id="{5475E398-607C-42F3-AC36-D9AF3DD516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9100" y="2695632"/>
            <a:ext cx="4415518" cy="107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 txBox="1">
            <a:spLocks noGrp="1"/>
          </p:cNvSpPr>
          <p:nvPr>
            <p:ph type="title"/>
          </p:nvPr>
        </p:nvSpPr>
        <p:spPr>
          <a:xfrm>
            <a:off x="1104900" y="276075"/>
            <a:ext cx="6724500" cy="74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Приобретенные навыки</a:t>
            </a:r>
            <a:endParaRPr lang="en-US" dirty="0"/>
          </a:p>
        </p:txBody>
      </p:sp>
      <p:sp>
        <p:nvSpPr>
          <p:cNvPr id="204" name="Google Shape;204;p24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594900" cy="73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sp>
        <p:nvSpPr>
          <p:cNvPr id="9" name="Подзаголовок 2">
            <a:extLst>
              <a:ext uri="{FF2B5EF4-FFF2-40B4-BE49-F238E27FC236}">
                <a16:creationId xmlns="" xmlns:a16="http://schemas.microsoft.com/office/drawing/2014/main" id="{D228D150-B94E-4ECF-974C-BA4A83DCA8FC}"/>
              </a:ext>
            </a:extLst>
          </p:cNvPr>
          <p:cNvSpPr txBox="1">
            <a:spLocks/>
          </p:cNvSpPr>
          <p:nvPr/>
        </p:nvSpPr>
        <p:spPr>
          <a:xfrm>
            <a:off x="480600" y="2043389"/>
            <a:ext cx="5270595" cy="1977933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ru-RU" sz="1800" dirty="0">
                <a:solidFill>
                  <a:schemeClr val="dk1"/>
                </a:solidFill>
                <a:latin typeface="Roboto"/>
                <a:ea typeface="Roboto"/>
              </a:rPr>
              <a:t>В издательстве просвещения мы научились:</a:t>
            </a:r>
          </a:p>
          <a:p>
            <a:pPr algn="l"/>
            <a:r>
              <a:rPr lang="ru-RU" sz="1800" dirty="0">
                <a:solidFill>
                  <a:schemeClr val="dk1"/>
                </a:solidFill>
                <a:latin typeface="Roboto"/>
                <a:ea typeface="Roboto"/>
              </a:rPr>
              <a:t>Кодировать книга, взаимодействовать со скриптом для улучшения работоспособности и большей продуктивности команды, составления форм с помощь программы в </a:t>
            </a:r>
            <a:r>
              <a:rPr lang="ru-RU" sz="1800" dirty="0" err="1">
                <a:solidFill>
                  <a:schemeClr val="dk1"/>
                </a:solidFill>
                <a:latin typeface="Roboto"/>
                <a:ea typeface="Roboto"/>
              </a:rPr>
              <a:t>Эриус</a:t>
            </a:r>
            <a:r>
              <a:rPr lang="ru-RU" sz="1800" dirty="0">
                <a:solidFill>
                  <a:schemeClr val="dk1"/>
                </a:solidFill>
                <a:latin typeface="Roboto"/>
                <a:ea typeface="Roboto"/>
              </a:rPr>
              <a:t>, работа с программным обеспечением Adobe</a:t>
            </a:r>
          </a:p>
        </p:txBody>
      </p:sp>
      <p:sp>
        <p:nvSpPr>
          <p:cNvPr id="7" name="Google Shape;300;p35">
            <a:extLst>
              <a:ext uri="{FF2B5EF4-FFF2-40B4-BE49-F238E27FC236}">
                <a16:creationId xmlns="" xmlns:a16="http://schemas.microsoft.com/office/drawing/2014/main" id="{5B9F205F-5101-45B7-92A3-825FDDAB09D3}"/>
              </a:ext>
            </a:extLst>
          </p:cNvPr>
          <p:cNvSpPr/>
          <p:nvPr/>
        </p:nvSpPr>
        <p:spPr>
          <a:xfrm>
            <a:off x="5865495" y="1877786"/>
            <a:ext cx="3184071" cy="2989639"/>
          </a:xfrm>
          <a:custGeom>
            <a:avLst/>
            <a:gdLst/>
            <a:ahLst/>
            <a:cxnLst/>
            <a:rect l="l" t="t" r="r" b="b"/>
            <a:pathLst>
              <a:path w="143434" h="111665" extrusionOk="0">
                <a:moveTo>
                  <a:pt x="71751" y="2308"/>
                </a:moveTo>
                <a:lnTo>
                  <a:pt x="71887" y="2376"/>
                </a:lnTo>
                <a:lnTo>
                  <a:pt x="72091" y="2444"/>
                </a:lnTo>
                <a:lnTo>
                  <a:pt x="72159" y="2647"/>
                </a:lnTo>
                <a:lnTo>
                  <a:pt x="72226" y="2783"/>
                </a:lnTo>
                <a:lnTo>
                  <a:pt x="72159" y="2987"/>
                </a:lnTo>
                <a:lnTo>
                  <a:pt x="72091" y="3190"/>
                </a:lnTo>
                <a:lnTo>
                  <a:pt x="71887" y="3258"/>
                </a:lnTo>
                <a:lnTo>
                  <a:pt x="71751" y="3326"/>
                </a:lnTo>
                <a:lnTo>
                  <a:pt x="71548" y="3258"/>
                </a:lnTo>
                <a:lnTo>
                  <a:pt x="71344" y="3190"/>
                </a:lnTo>
                <a:lnTo>
                  <a:pt x="71276" y="2987"/>
                </a:lnTo>
                <a:lnTo>
                  <a:pt x="71208" y="2783"/>
                </a:lnTo>
                <a:lnTo>
                  <a:pt x="71276" y="2647"/>
                </a:lnTo>
                <a:lnTo>
                  <a:pt x="71344" y="2444"/>
                </a:lnTo>
                <a:lnTo>
                  <a:pt x="71548" y="2376"/>
                </a:lnTo>
                <a:lnTo>
                  <a:pt x="71751" y="2308"/>
                </a:lnTo>
                <a:close/>
                <a:moveTo>
                  <a:pt x="137528" y="5906"/>
                </a:moveTo>
                <a:lnTo>
                  <a:pt x="137596" y="5974"/>
                </a:lnTo>
                <a:lnTo>
                  <a:pt x="137596" y="89604"/>
                </a:lnTo>
                <a:lnTo>
                  <a:pt x="5906" y="89604"/>
                </a:lnTo>
                <a:lnTo>
                  <a:pt x="5906" y="5974"/>
                </a:lnTo>
                <a:lnTo>
                  <a:pt x="5906" y="5906"/>
                </a:lnTo>
                <a:close/>
                <a:moveTo>
                  <a:pt x="3530" y="0"/>
                </a:moveTo>
                <a:lnTo>
                  <a:pt x="3191" y="68"/>
                </a:lnTo>
                <a:lnTo>
                  <a:pt x="2444" y="339"/>
                </a:lnTo>
                <a:lnTo>
                  <a:pt x="1766" y="679"/>
                </a:lnTo>
                <a:lnTo>
                  <a:pt x="1155" y="1154"/>
                </a:lnTo>
                <a:lnTo>
                  <a:pt x="679" y="1765"/>
                </a:lnTo>
                <a:lnTo>
                  <a:pt x="272" y="2444"/>
                </a:lnTo>
                <a:lnTo>
                  <a:pt x="69" y="3190"/>
                </a:lnTo>
                <a:lnTo>
                  <a:pt x="1" y="3598"/>
                </a:lnTo>
                <a:lnTo>
                  <a:pt x="1" y="4005"/>
                </a:lnTo>
                <a:lnTo>
                  <a:pt x="1" y="91572"/>
                </a:lnTo>
                <a:lnTo>
                  <a:pt x="1" y="91979"/>
                </a:lnTo>
                <a:lnTo>
                  <a:pt x="69" y="92319"/>
                </a:lnTo>
                <a:lnTo>
                  <a:pt x="272" y="93065"/>
                </a:lnTo>
                <a:lnTo>
                  <a:pt x="679" y="93744"/>
                </a:lnTo>
                <a:lnTo>
                  <a:pt x="1155" y="94355"/>
                </a:lnTo>
                <a:lnTo>
                  <a:pt x="1766" y="94830"/>
                </a:lnTo>
                <a:lnTo>
                  <a:pt x="2444" y="95238"/>
                </a:lnTo>
                <a:lnTo>
                  <a:pt x="3191" y="95441"/>
                </a:lnTo>
                <a:lnTo>
                  <a:pt x="3530" y="95509"/>
                </a:lnTo>
                <a:lnTo>
                  <a:pt x="139904" y="95509"/>
                </a:lnTo>
                <a:lnTo>
                  <a:pt x="140311" y="95441"/>
                </a:lnTo>
                <a:lnTo>
                  <a:pt x="141058" y="95238"/>
                </a:lnTo>
                <a:lnTo>
                  <a:pt x="141737" y="94830"/>
                </a:lnTo>
                <a:lnTo>
                  <a:pt x="142280" y="94355"/>
                </a:lnTo>
                <a:lnTo>
                  <a:pt x="142755" y="93744"/>
                </a:lnTo>
                <a:lnTo>
                  <a:pt x="143162" y="93065"/>
                </a:lnTo>
                <a:lnTo>
                  <a:pt x="143366" y="92319"/>
                </a:lnTo>
                <a:lnTo>
                  <a:pt x="143434" y="91979"/>
                </a:lnTo>
                <a:lnTo>
                  <a:pt x="143434" y="91572"/>
                </a:lnTo>
                <a:lnTo>
                  <a:pt x="143434" y="4005"/>
                </a:lnTo>
                <a:lnTo>
                  <a:pt x="143434" y="3598"/>
                </a:lnTo>
                <a:lnTo>
                  <a:pt x="143366" y="3190"/>
                </a:lnTo>
                <a:lnTo>
                  <a:pt x="143162" y="2444"/>
                </a:lnTo>
                <a:lnTo>
                  <a:pt x="142755" y="1765"/>
                </a:lnTo>
                <a:lnTo>
                  <a:pt x="142280" y="1154"/>
                </a:lnTo>
                <a:lnTo>
                  <a:pt x="141737" y="679"/>
                </a:lnTo>
                <a:lnTo>
                  <a:pt x="141058" y="339"/>
                </a:lnTo>
                <a:lnTo>
                  <a:pt x="140311" y="68"/>
                </a:lnTo>
                <a:lnTo>
                  <a:pt x="139904" y="0"/>
                </a:lnTo>
                <a:close/>
                <a:moveTo>
                  <a:pt x="55324" y="95713"/>
                </a:moveTo>
                <a:lnTo>
                  <a:pt x="55052" y="98971"/>
                </a:lnTo>
                <a:lnTo>
                  <a:pt x="54713" y="102297"/>
                </a:lnTo>
                <a:lnTo>
                  <a:pt x="54374" y="105284"/>
                </a:lnTo>
                <a:lnTo>
                  <a:pt x="53966" y="107388"/>
                </a:lnTo>
                <a:lnTo>
                  <a:pt x="53763" y="108203"/>
                </a:lnTo>
                <a:lnTo>
                  <a:pt x="53627" y="108746"/>
                </a:lnTo>
                <a:lnTo>
                  <a:pt x="53423" y="109153"/>
                </a:lnTo>
                <a:lnTo>
                  <a:pt x="53220" y="109357"/>
                </a:lnTo>
                <a:lnTo>
                  <a:pt x="52677" y="109493"/>
                </a:lnTo>
                <a:lnTo>
                  <a:pt x="51794" y="109696"/>
                </a:lnTo>
                <a:lnTo>
                  <a:pt x="49690" y="110036"/>
                </a:lnTo>
                <a:lnTo>
                  <a:pt x="48061" y="110307"/>
                </a:lnTo>
                <a:lnTo>
                  <a:pt x="47450" y="110443"/>
                </a:lnTo>
                <a:lnTo>
                  <a:pt x="47110" y="110511"/>
                </a:lnTo>
                <a:lnTo>
                  <a:pt x="47042" y="110579"/>
                </a:lnTo>
                <a:lnTo>
                  <a:pt x="47042" y="110783"/>
                </a:lnTo>
                <a:lnTo>
                  <a:pt x="47110" y="110850"/>
                </a:lnTo>
                <a:lnTo>
                  <a:pt x="47585" y="110918"/>
                </a:lnTo>
                <a:lnTo>
                  <a:pt x="48400" y="110986"/>
                </a:lnTo>
                <a:lnTo>
                  <a:pt x="51387" y="111054"/>
                </a:lnTo>
                <a:lnTo>
                  <a:pt x="56071" y="111122"/>
                </a:lnTo>
                <a:lnTo>
                  <a:pt x="87092" y="111122"/>
                </a:lnTo>
                <a:lnTo>
                  <a:pt x="91708" y="111054"/>
                </a:lnTo>
                <a:lnTo>
                  <a:pt x="94695" y="110986"/>
                </a:lnTo>
                <a:lnTo>
                  <a:pt x="95578" y="110918"/>
                </a:lnTo>
                <a:lnTo>
                  <a:pt x="96053" y="110850"/>
                </a:lnTo>
                <a:lnTo>
                  <a:pt x="96121" y="110783"/>
                </a:lnTo>
                <a:lnTo>
                  <a:pt x="96121" y="110579"/>
                </a:lnTo>
                <a:lnTo>
                  <a:pt x="96053" y="110511"/>
                </a:lnTo>
                <a:lnTo>
                  <a:pt x="95713" y="110443"/>
                </a:lnTo>
                <a:lnTo>
                  <a:pt x="95102" y="110307"/>
                </a:lnTo>
                <a:lnTo>
                  <a:pt x="93473" y="110036"/>
                </a:lnTo>
                <a:lnTo>
                  <a:pt x="91369" y="109696"/>
                </a:lnTo>
                <a:lnTo>
                  <a:pt x="90487" y="109493"/>
                </a:lnTo>
                <a:lnTo>
                  <a:pt x="89943" y="109357"/>
                </a:lnTo>
                <a:lnTo>
                  <a:pt x="89740" y="109153"/>
                </a:lnTo>
                <a:lnTo>
                  <a:pt x="89536" y="108746"/>
                </a:lnTo>
                <a:lnTo>
                  <a:pt x="89333" y="108203"/>
                </a:lnTo>
                <a:lnTo>
                  <a:pt x="89197" y="107388"/>
                </a:lnTo>
                <a:lnTo>
                  <a:pt x="88789" y="105284"/>
                </a:lnTo>
                <a:lnTo>
                  <a:pt x="88382" y="102297"/>
                </a:lnTo>
                <a:lnTo>
                  <a:pt x="88043" y="98971"/>
                </a:lnTo>
                <a:lnTo>
                  <a:pt x="87839" y="95713"/>
                </a:lnTo>
                <a:close/>
                <a:moveTo>
                  <a:pt x="47450" y="111054"/>
                </a:moveTo>
                <a:lnTo>
                  <a:pt x="47450" y="111122"/>
                </a:lnTo>
                <a:lnTo>
                  <a:pt x="47450" y="111393"/>
                </a:lnTo>
                <a:lnTo>
                  <a:pt x="47518" y="111461"/>
                </a:lnTo>
                <a:lnTo>
                  <a:pt x="48807" y="111529"/>
                </a:lnTo>
                <a:lnTo>
                  <a:pt x="52473" y="111597"/>
                </a:lnTo>
                <a:lnTo>
                  <a:pt x="62384" y="111665"/>
                </a:lnTo>
                <a:lnTo>
                  <a:pt x="80779" y="111665"/>
                </a:lnTo>
                <a:lnTo>
                  <a:pt x="90622" y="111597"/>
                </a:lnTo>
                <a:lnTo>
                  <a:pt x="94356" y="111529"/>
                </a:lnTo>
                <a:lnTo>
                  <a:pt x="95646" y="111461"/>
                </a:lnTo>
                <a:lnTo>
                  <a:pt x="95713" y="111393"/>
                </a:lnTo>
                <a:lnTo>
                  <a:pt x="95713" y="111122"/>
                </a:lnTo>
                <a:lnTo>
                  <a:pt x="95646" y="111054"/>
                </a:lnTo>
                <a:lnTo>
                  <a:pt x="94084" y="111122"/>
                </a:lnTo>
                <a:lnTo>
                  <a:pt x="91233" y="111190"/>
                </a:lnTo>
                <a:lnTo>
                  <a:pt x="80847" y="111258"/>
                </a:lnTo>
                <a:lnTo>
                  <a:pt x="62316" y="111258"/>
                </a:lnTo>
                <a:lnTo>
                  <a:pt x="51930" y="111190"/>
                </a:lnTo>
                <a:lnTo>
                  <a:pt x="49079" y="111122"/>
                </a:lnTo>
                <a:lnTo>
                  <a:pt x="47518" y="111054"/>
                </a:ln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29960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6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594900" cy="73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sp>
        <p:nvSpPr>
          <p:cNvPr id="309" name="Google Shape;309;p36"/>
          <p:cNvSpPr txBox="1">
            <a:spLocks noGrp="1"/>
          </p:cNvSpPr>
          <p:nvPr>
            <p:ph type="ctrTitle" idx="4294967295"/>
          </p:nvPr>
        </p:nvSpPr>
        <p:spPr>
          <a:xfrm>
            <a:off x="1033300" y="0"/>
            <a:ext cx="66726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dirty="0">
                <a:solidFill>
                  <a:schemeClr val="accent1"/>
                </a:solidFill>
              </a:rPr>
              <a:t>Заключение</a:t>
            </a:r>
            <a:endParaRPr sz="4000" dirty="0">
              <a:solidFill>
                <a:schemeClr val="accent1"/>
              </a:solidFill>
            </a:endParaRPr>
          </a:p>
        </p:txBody>
      </p:sp>
      <p:sp>
        <p:nvSpPr>
          <p:cNvPr id="310" name="Google Shape;310;p36"/>
          <p:cNvSpPr txBox="1">
            <a:spLocks noGrp="1"/>
          </p:cNvSpPr>
          <p:nvPr>
            <p:ph type="subTitle" idx="4294967295"/>
          </p:nvPr>
        </p:nvSpPr>
        <p:spPr>
          <a:xfrm>
            <a:off x="979500" y="1480239"/>
            <a:ext cx="7185000" cy="21830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lt1"/>
                </a:solidFill>
              </a:rPr>
              <a:t>В заключении можно сказать, что наша команда получила большой опыт в сфере обработки учебников, пользование скриптом, работе с формулами, а так же работе в коллективе. За время прохождения практики мы обработали более 250 учебников, познакомились со специалистами в данной сфере и улучшили свои навыки и знания.</a:t>
            </a:r>
            <a:endParaRPr lang="ru-RU" sz="2400" dirty="0">
              <a:solidFill>
                <a:schemeClr val="l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D966"/>
            </a:gs>
            <a:gs pos="100000">
              <a:srgbClr val="FF990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p42"/>
          <p:cNvSpPr txBox="1"/>
          <p:nvPr/>
        </p:nvSpPr>
        <p:spPr>
          <a:xfrm>
            <a:off x="1072492" y="1218583"/>
            <a:ext cx="6931800" cy="3306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rgbClr val="434343"/>
                </a:solidFill>
                <a:latin typeface="Roboto" panose="02000000000000000000" pitchFamily="2" charset="0"/>
                <a:ea typeface="Roboto" panose="02000000000000000000" pitchFamily="2" charset="0"/>
                <a:cs typeface="Montserrat"/>
                <a:sym typeface="Montserrat"/>
              </a:rPr>
              <a:t>В ходе создания презентационного отчета </a:t>
            </a:r>
            <a:r>
              <a:rPr lang="ru-RU" sz="1800" dirty="0" err="1">
                <a:solidFill>
                  <a:srgbClr val="434343"/>
                </a:solidFill>
                <a:latin typeface="Roboto" panose="02000000000000000000" pitchFamily="2" charset="0"/>
                <a:ea typeface="Roboto" panose="02000000000000000000" pitchFamily="2" charset="0"/>
                <a:cs typeface="Montserrat"/>
                <a:sym typeface="Montserrat"/>
              </a:rPr>
              <a:t>учавствовали</a:t>
            </a:r>
            <a:r>
              <a:rPr lang="ru-RU" sz="1800" dirty="0" smtClean="0">
                <a:solidFill>
                  <a:srgbClr val="434343"/>
                </a:solidFill>
                <a:latin typeface="Roboto" panose="02000000000000000000" pitchFamily="2" charset="0"/>
                <a:ea typeface="Roboto" panose="02000000000000000000" pitchFamily="2" charset="0"/>
                <a:cs typeface="Montserrat"/>
                <a:sym typeface="Montserrat"/>
              </a:rPr>
              <a:t>: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ru-RU" sz="1800" dirty="0">
              <a:solidFill>
                <a:srgbClr val="434343"/>
              </a:solidFill>
              <a:latin typeface="Roboto" panose="02000000000000000000" pitchFamily="2" charset="0"/>
              <a:ea typeface="Roboto" panose="02000000000000000000" pitchFamily="2" charset="0"/>
              <a:cs typeface="Montserrat"/>
              <a:sym typeface="Montserrat"/>
            </a:endParaRPr>
          </a:p>
          <a:p>
            <a:pPr lvl="0" algn="ctr"/>
            <a:r>
              <a:rPr lang="ru-RU" sz="1800" dirty="0">
                <a:solidFill>
                  <a:srgbClr val="434343"/>
                </a:solidFill>
                <a:latin typeface="Roboto" panose="02000000000000000000" pitchFamily="2" charset="0"/>
                <a:ea typeface="Roboto" panose="02000000000000000000" pitchFamily="2" charset="0"/>
                <a:cs typeface="Montserrat"/>
                <a:sym typeface="Montserrat"/>
              </a:rPr>
              <a:t>Барашков Денис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 err="1">
                <a:solidFill>
                  <a:srgbClr val="434343"/>
                </a:solidFill>
                <a:latin typeface="Roboto" panose="02000000000000000000" pitchFamily="2" charset="0"/>
                <a:ea typeface="Roboto" panose="02000000000000000000" pitchFamily="2" charset="0"/>
                <a:cs typeface="Montserrat"/>
                <a:sym typeface="Montserrat"/>
              </a:rPr>
              <a:t>Голубовский</a:t>
            </a:r>
            <a:r>
              <a:rPr lang="ru-RU" sz="1800" dirty="0">
                <a:solidFill>
                  <a:srgbClr val="434343"/>
                </a:solidFill>
                <a:latin typeface="Roboto" panose="02000000000000000000" pitchFamily="2" charset="0"/>
                <a:ea typeface="Roboto" panose="02000000000000000000" pitchFamily="2" charset="0"/>
                <a:cs typeface="Montserrat"/>
                <a:sym typeface="Montserrat"/>
              </a:rPr>
              <a:t> Алексей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 err="1">
                <a:solidFill>
                  <a:srgbClr val="434343"/>
                </a:solidFill>
                <a:latin typeface="Roboto" panose="02000000000000000000" pitchFamily="2" charset="0"/>
                <a:ea typeface="Roboto" panose="02000000000000000000" pitchFamily="2" charset="0"/>
                <a:cs typeface="Montserrat"/>
                <a:sym typeface="Montserrat"/>
              </a:rPr>
              <a:t>Корнеенкова</a:t>
            </a:r>
            <a:r>
              <a:rPr lang="ru-RU" sz="1800" dirty="0">
                <a:solidFill>
                  <a:srgbClr val="434343"/>
                </a:solidFill>
                <a:latin typeface="Roboto" panose="02000000000000000000" pitchFamily="2" charset="0"/>
                <a:ea typeface="Roboto" panose="02000000000000000000" pitchFamily="2" charset="0"/>
                <a:cs typeface="Montserrat"/>
                <a:sym typeface="Montserrat"/>
              </a:rPr>
              <a:t> Мария</a:t>
            </a:r>
            <a:br>
              <a:rPr lang="ru-RU" sz="1800" dirty="0">
                <a:solidFill>
                  <a:srgbClr val="434343"/>
                </a:solidFill>
                <a:latin typeface="Roboto" panose="02000000000000000000" pitchFamily="2" charset="0"/>
                <a:ea typeface="Roboto" panose="02000000000000000000" pitchFamily="2" charset="0"/>
                <a:cs typeface="Montserrat"/>
                <a:sym typeface="Montserrat"/>
              </a:rPr>
            </a:br>
            <a:r>
              <a:rPr lang="ru-RU" sz="1800" dirty="0">
                <a:solidFill>
                  <a:srgbClr val="434343"/>
                </a:solidFill>
                <a:latin typeface="Roboto" panose="02000000000000000000" pitchFamily="2" charset="0"/>
                <a:ea typeface="Roboto" panose="02000000000000000000" pitchFamily="2" charset="0"/>
                <a:cs typeface="Montserrat"/>
                <a:sym typeface="Montserrat"/>
              </a:rPr>
              <a:t>Кулаченко Артем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rgbClr val="434343"/>
                </a:solidFill>
                <a:latin typeface="Roboto" panose="02000000000000000000" pitchFamily="2" charset="0"/>
                <a:ea typeface="Roboto" panose="02000000000000000000" pitchFamily="2" charset="0"/>
                <a:cs typeface="Montserrat"/>
                <a:sym typeface="Montserrat"/>
              </a:rPr>
              <a:t>Литвинов Андрей</a:t>
            </a:r>
            <a:br>
              <a:rPr lang="ru-RU" sz="1800" dirty="0">
                <a:solidFill>
                  <a:srgbClr val="434343"/>
                </a:solidFill>
                <a:latin typeface="Roboto" panose="02000000000000000000" pitchFamily="2" charset="0"/>
                <a:ea typeface="Roboto" panose="02000000000000000000" pitchFamily="2" charset="0"/>
                <a:cs typeface="Montserrat"/>
                <a:sym typeface="Montserrat"/>
              </a:rPr>
            </a:br>
            <a:r>
              <a:rPr lang="ru-RU" sz="1800" dirty="0">
                <a:solidFill>
                  <a:srgbClr val="434343"/>
                </a:solidFill>
                <a:latin typeface="Roboto" panose="02000000000000000000" pitchFamily="2" charset="0"/>
                <a:ea typeface="Roboto" panose="02000000000000000000" pitchFamily="2" charset="0"/>
                <a:cs typeface="Montserrat"/>
                <a:sym typeface="Montserrat"/>
              </a:rPr>
              <a:t>Макаркина Елизавета</a:t>
            </a:r>
            <a:br>
              <a:rPr lang="ru-RU" sz="1800" dirty="0">
                <a:solidFill>
                  <a:srgbClr val="434343"/>
                </a:solidFill>
                <a:latin typeface="Roboto" panose="02000000000000000000" pitchFamily="2" charset="0"/>
                <a:ea typeface="Roboto" panose="02000000000000000000" pitchFamily="2" charset="0"/>
                <a:cs typeface="Montserrat"/>
                <a:sym typeface="Montserrat"/>
              </a:rPr>
            </a:br>
            <a:r>
              <a:rPr lang="ru-RU" sz="1800" dirty="0" err="1">
                <a:solidFill>
                  <a:srgbClr val="434343"/>
                </a:solidFill>
                <a:latin typeface="Roboto" panose="02000000000000000000" pitchFamily="2" charset="0"/>
                <a:ea typeface="Roboto" panose="02000000000000000000" pitchFamily="2" charset="0"/>
                <a:cs typeface="Montserrat"/>
                <a:sym typeface="Montserrat"/>
              </a:rPr>
              <a:t>Стрепеткова</a:t>
            </a:r>
            <a:r>
              <a:rPr lang="ru-RU" sz="1800" dirty="0">
                <a:solidFill>
                  <a:srgbClr val="434343"/>
                </a:solidFill>
                <a:latin typeface="Roboto" panose="02000000000000000000" pitchFamily="2" charset="0"/>
                <a:ea typeface="Roboto" panose="02000000000000000000" pitchFamily="2" charset="0"/>
                <a:cs typeface="Montserrat"/>
                <a:sym typeface="Montserrat"/>
              </a:rPr>
              <a:t> Екатерина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 err="1">
                <a:solidFill>
                  <a:srgbClr val="434343"/>
                </a:solidFill>
                <a:latin typeface="Roboto" panose="02000000000000000000" pitchFamily="2" charset="0"/>
                <a:ea typeface="Roboto" panose="02000000000000000000" pitchFamily="2" charset="0"/>
                <a:cs typeface="Montserrat"/>
                <a:sym typeface="Montserrat"/>
              </a:rPr>
              <a:t>Чекурин</a:t>
            </a:r>
            <a:r>
              <a:rPr lang="ru-RU" sz="1800" dirty="0">
                <a:solidFill>
                  <a:srgbClr val="434343"/>
                </a:solidFill>
                <a:latin typeface="Roboto" panose="02000000000000000000" pitchFamily="2" charset="0"/>
                <a:ea typeface="Roboto" panose="02000000000000000000" pitchFamily="2" charset="0"/>
                <a:cs typeface="Montserrat"/>
                <a:sym typeface="Montserrat"/>
              </a:rPr>
              <a:t> Матвей</a:t>
            </a:r>
            <a:endParaRPr sz="1800" dirty="0">
              <a:solidFill>
                <a:srgbClr val="434343"/>
              </a:solidFill>
              <a:latin typeface="Roboto" panose="02000000000000000000" pitchFamily="2" charset="0"/>
              <a:ea typeface="Roboto" panose="02000000000000000000" pitchFamily="2" charset="0"/>
              <a:cs typeface="Montserrat"/>
              <a:sym typeface="Montserrat"/>
            </a:endParaRPr>
          </a:p>
        </p:txBody>
      </p:sp>
      <p:sp>
        <p:nvSpPr>
          <p:cNvPr id="17" name="Google Shape;309;p36">
            <a:extLst>
              <a:ext uri="{FF2B5EF4-FFF2-40B4-BE49-F238E27FC236}">
                <a16:creationId xmlns="" xmlns:a16="http://schemas.microsoft.com/office/drawing/2014/main" id="{6339748D-FEF5-406F-B0F4-91FCADEBA9B4}"/>
              </a:ext>
            </a:extLst>
          </p:cNvPr>
          <p:cNvSpPr txBox="1">
            <a:spLocks/>
          </p:cNvSpPr>
          <p:nvPr/>
        </p:nvSpPr>
        <p:spPr>
          <a:xfrm>
            <a:off x="1202092" y="58783"/>
            <a:ext cx="6672600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osis"/>
              <a:buNone/>
              <a:defRPr sz="2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osis"/>
              <a:buNone/>
              <a:defRPr sz="2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osis"/>
              <a:buNone/>
              <a:defRPr sz="2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osis"/>
              <a:buNone/>
              <a:defRPr sz="2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osis"/>
              <a:buNone/>
              <a:defRPr sz="2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osis"/>
              <a:buNone/>
              <a:defRPr sz="2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osis"/>
              <a:buNone/>
              <a:defRPr sz="2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osis"/>
              <a:buNone/>
              <a:defRPr sz="2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osis"/>
              <a:buNone/>
              <a:defRPr sz="2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9pPr>
          </a:lstStyle>
          <a:p>
            <a:pPr algn="ctr"/>
            <a:r>
              <a:rPr lang="ru-RU" sz="4000" dirty="0">
                <a:solidFill>
                  <a:schemeClr val="accent1"/>
                </a:solidFill>
              </a:rPr>
              <a:t>Спасибо!!!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William template">
  <a:themeElements>
    <a:clrScheme name="Custom 347">
      <a:dk1>
        <a:srgbClr val="222222"/>
      </a:dk1>
      <a:lt1>
        <a:srgbClr val="FFFFFF"/>
      </a:lt1>
      <a:dk2>
        <a:srgbClr val="666666"/>
      </a:dk2>
      <a:lt2>
        <a:srgbClr val="F3F3F3"/>
      </a:lt2>
      <a:accent1>
        <a:srgbClr val="FF8700"/>
      </a:accent1>
      <a:accent2>
        <a:srgbClr val="FFB840"/>
      </a:accent2>
      <a:accent3>
        <a:srgbClr val="333333"/>
      </a:accent3>
      <a:accent4>
        <a:srgbClr val="9B9796"/>
      </a:accent4>
      <a:accent5>
        <a:srgbClr val="C9C3BD"/>
      </a:accent5>
      <a:accent6>
        <a:srgbClr val="96C94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613</Words>
  <Application>Microsoft Office PowerPoint</Application>
  <PresentationFormat>Экран (16:9)</PresentationFormat>
  <Paragraphs>84</Paragraphs>
  <Slides>17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7" baseType="lpstr">
      <vt:lpstr>Bebas Neue Book</vt:lpstr>
      <vt:lpstr>Montserrat</vt:lpstr>
      <vt:lpstr>Bebas Neue Regular</vt:lpstr>
      <vt:lpstr>Baskerville Old Face</vt:lpstr>
      <vt:lpstr>Times New Roman</vt:lpstr>
      <vt:lpstr>Wingdings</vt:lpstr>
      <vt:lpstr>Arial</vt:lpstr>
      <vt:lpstr>Roboto</vt:lpstr>
      <vt:lpstr>Dosis</vt:lpstr>
      <vt:lpstr>William template</vt:lpstr>
      <vt:lpstr>Презентация PowerPoint</vt:lpstr>
      <vt:lpstr>Отчет о производственной практике в издательстве «Просвещение»</vt:lpstr>
      <vt:lpstr>Цели практики</vt:lpstr>
      <vt:lpstr>Презентация PowerPoint</vt:lpstr>
      <vt:lpstr>Издательство «Просвещение»</vt:lpstr>
      <vt:lpstr>Организационная структура предприятия</vt:lpstr>
      <vt:lpstr>Рабочее место студента</vt:lpstr>
      <vt:lpstr>Задания данные студентам</vt:lpstr>
      <vt:lpstr>Виды деятельности</vt:lpstr>
      <vt:lpstr>Распределение обязанностей</vt:lpstr>
      <vt:lpstr>Работа с учебниками</vt:lpstr>
      <vt:lpstr> In Design|Adobe|</vt:lpstr>
      <vt:lpstr>Работа с формулами</vt:lpstr>
      <vt:lpstr>Презентация PowerPoint</vt:lpstr>
      <vt:lpstr>Приобретенные навыки</vt:lpstr>
      <vt:lpstr>Заключение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Lynx</cp:lastModifiedBy>
  <cp:revision>19</cp:revision>
  <dcterms:modified xsi:type="dcterms:W3CDTF">2021-12-19T23:11:45Z</dcterms:modified>
</cp:coreProperties>
</file>